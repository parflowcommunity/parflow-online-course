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60" r:id="rId2"/>
    <p:sldId id="262" r:id="rId3"/>
    <p:sldId id="257" r:id="rId4"/>
    <p:sldId id="289" r:id="rId5"/>
    <p:sldId id="264" r:id="rId6"/>
    <p:sldId id="259" r:id="rId7"/>
    <p:sldId id="256" r:id="rId8"/>
    <p:sldId id="263" r:id="rId9"/>
    <p:sldId id="265" r:id="rId10"/>
    <p:sldId id="266" r:id="rId11"/>
    <p:sldId id="268" r:id="rId12"/>
    <p:sldId id="267" r:id="rId13"/>
    <p:sldId id="28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84" r:id="rId22"/>
    <p:sldId id="277" r:id="rId23"/>
    <p:sldId id="278" r:id="rId24"/>
    <p:sldId id="287" r:id="rId25"/>
    <p:sldId id="279" r:id="rId26"/>
    <p:sldId id="280" r:id="rId27"/>
    <p:sldId id="281" r:id="rId28"/>
    <p:sldId id="283" r:id="rId29"/>
    <p:sldId id="282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69"/>
    <p:restoredTop sz="94787"/>
  </p:normalViewPr>
  <p:slideViewPr>
    <p:cSldViewPr snapToGrid="0">
      <p:cViewPr varScale="1">
        <p:scale>
          <a:sx n="149" d="100"/>
          <a:sy n="149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FA665-4309-594B-AB7C-A1EA3D2D97C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D07CA-41FB-B640-8DFC-40E0ABFA2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56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D07CA-41FB-B640-8DFC-40E0ABFA2D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01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D07CA-41FB-B640-8DFC-40E0ABFA2D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6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72EB-0E40-355E-F614-892B1CE2B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71EE6-1A86-C644-01EC-91E8EE7B6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3C91B-0417-5515-C739-C7FD4D25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2377B-DEF8-66E9-2025-2FD1C940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9B26-B6CD-400D-03E0-617667FC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8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0DE7-7B41-3134-DD29-86EB369AF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CF0A4-0955-E46E-812E-095D2078A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90F8A-1346-8B2B-DFEF-7A5E922B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32D5E-45D3-173E-54B4-8AFE53B2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2AC5-F6F2-1FCB-F9D1-3F053732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9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D534-1AEB-7A7F-4346-54A35C77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12B47-86A0-0EC7-2E20-72B2A96E1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C63D-AB74-0A3D-D3F0-767EFAD2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C512F-2115-1A82-ACBB-44254302E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2C268-9D7C-6BDB-4930-9934F56F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5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324C-2A97-E747-9917-C94460A0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7855C-9604-46CC-28C1-1E072CAF6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F049B-BE80-9E95-C86E-4E628767D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7203F-D0FE-DC92-1318-C22F535C3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3FDB4-4B5E-A732-8539-58CE6B59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3B1CC-61D5-45EA-7695-1FD2C3B3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5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76E5-BF9F-86FA-DDD8-55051335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2BDF9-E713-5CA8-FECE-08A516EA7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4E6A5-3A38-B9BB-3DE3-0745FA0A7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DB310-3D8F-6ED6-5711-C4AEA8D50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A8AE44-F106-1697-2CFE-39E30D6FE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3F560-D1D4-2925-35CB-9EDB6356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1AA1D-BAB3-4616-7EB6-82118961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BA477-986A-0363-2EFA-02DA65DF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0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D6A7-4FAA-A751-03AD-6D94D8F6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E7EB8-1A8C-C182-F08D-CEFA5382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46043-0510-CA7A-6093-84002BB2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0CDB3-ADA8-8C5D-7463-E23BCC37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9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B8E5F-0EF7-ED1B-746F-D8F9B5FD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8B448-52C6-3B8C-67EA-8FE18ADA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D1112-F73B-5368-F8AA-D54F51C7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3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D9FDE-9CDB-AD8F-5512-17DD2EB17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D4ECD-7171-0BBA-4020-51D2C18FA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AF728-AD43-5435-5A8B-66B71BC79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03E0E-A722-EA50-221A-7BCEE09D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23910-84E8-0701-6019-429C8D9B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21700-B520-8C4F-4FF7-4686014C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5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89B9-CE8E-CDF0-8359-C5D5033C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4E185-D4B7-BFA7-2C0E-966D2B097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AE975-2D82-88B4-3DB4-F4319104D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C9D3C-7811-987B-590D-77A31DF8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71E73-671F-CA4B-C135-14AFC4D7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B8D2-B4CC-0206-DF5A-DE4EFD9E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3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3191-FCE6-DC5B-85E9-67705B5A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AA042-1BF1-176F-A9A0-49BC0F21F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E3616-8DFD-5D73-4CAC-BC87286E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7D6EF-FB66-C194-E9CF-F9CC6FDC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90AE2-B475-5FB0-93C1-666B0D45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8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3C829-6D0C-D05E-C50D-7A2474634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FFCC5-9FFD-6262-85D5-AFB5AD3B7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C88F2-321F-12E0-E3FB-ABC26F43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9642-5455-E332-DF1B-CC6EADD8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50049-E0EC-C516-3B5F-665CADC3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50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A0336-C28A-1D56-4944-D6DE84D1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08D9F-2D8B-00AB-8D7B-CA322AADD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64628-6781-E5A9-1984-956F700A7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CF78D-4FDE-004C-ACAC-CD68BB61DA41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A0B2F-099E-76F7-A08B-045CDE810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617C1-7E73-BF95-C0EF-2A89D5E20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778E3-CC14-E942-AC35-73B35132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2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F59BF7-8E1A-812B-0A1E-7E16B9D49D0F}"/>
              </a:ext>
            </a:extLst>
          </p:cNvPr>
          <p:cNvSpPr txBox="1"/>
          <p:nvPr/>
        </p:nvSpPr>
        <p:spPr>
          <a:xfrm>
            <a:off x="2104072" y="1112986"/>
            <a:ext cx="78720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ParFlow</a:t>
            </a:r>
            <a:r>
              <a:rPr lang="zh-CN" altLang="en-US" sz="6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数值方法简介</a:t>
            </a:r>
            <a:endParaRPr lang="en-US" sz="6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5FEC9-5292-3C11-FE6C-6F4F32F512E2}"/>
              </a:ext>
            </a:extLst>
          </p:cNvPr>
          <p:cNvSpPr txBox="1"/>
          <p:nvPr/>
        </p:nvSpPr>
        <p:spPr>
          <a:xfrm>
            <a:off x="3820017" y="3720500"/>
            <a:ext cx="4288353" cy="1482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杨晨</a:t>
            </a:r>
            <a:endParaRPr lang="en-US" altLang="zh-CN" sz="3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中山大学大气科学学院</a:t>
            </a:r>
            <a:endParaRPr lang="en-US" sz="3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0932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gional Groundwater Flow - Regional Groundwater Flow Commission">
            <a:extLst>
              <a:ext uri="{FF2B5EF4-FFF2-40B4-BE49-F238E27FC236}">
                <a16:creationId xmlns:a16="http://schemas.microsoft.com/office/drawing/2014/main" id="{2D1AEB69-B2F7-8EAC-C14D-CECA9C3C0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75"/>
            <a:ext cx="12192000" cy="542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4C1612-867F-8688-ED40-95E110A69A38}"/>
              </a:ext>
            </a:extLst>
          </p:cNvPr>
          <p:cNvSpPr txBox="1"/>
          <p:nvPr/>
        </p:nvSpPr>
        <p:spPr>
          <a:xfrm>
            <a:off x="7873550" y="6287890"/>
            <a:ext cx="3822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Century Gothic" panose="020B0502020202020204" pitchFamily="34" charset="0"/>
              </a:rPr>
              <a:t>Toth,</a:t>
            </a:r>
            <a:r>
              <a:rPr lang="zh-CN" altLang="en-US" sz="2400" dirty="0">
                <a:latin typeface="Century Gothic" panose="020B0502020202020204" pitchFamily="34" charset="0"/>
              </a:rPr>
              <a:t> </a:t>
            </a:r>
            <a:r>
              <a:rPr lang="en-US" altLang="zh-CN" sz="2400" dirty="0">
                <a:latin typeface="Century Gothic" panose="020B0502020202020204" pitchFamily="34" charset="0"/>
              </a:rPr>
              <a:t>JGR,</a:t>
            </a:r>
            <a:r>
              <a:rPr lang="zh-CN" altLang="en-US" sz="2400" dirty="0">
                <a:latin typeface="Century Gothic" panose="020B0502020202020204" pitchFamily="34" charset="0"/>
              </a:rPr>
              <a:t> </a:t>
            </a:r>
            <a:r>
              <a:rPr lang="en-US" altLang="zh-CN" sz="2400" dirty="0">
                <a:latin typeface="Century Gothic" panose="020B0502020202020204" pitchFamily="34" charset="0"/>
              </a:rPr>
              <a:t>1963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62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FE7F38-E150-C1EE-9847-005595010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940" y="3583700"/>
            <a:ext cx="6134100" cy="2374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11CECC-2A87-2E3D-436C-3C868A53BF31}"/>
              </a:ext>
            </a:extLst>
          </p:cNvPr>
          <p:cNvSpPr txBox="1"/>
          <p:nvPr/>
        </p:nvSpPr>
        <p:spPr>
          <a:xfrm>
            <a:off x="3398986" y="310845"/>
            <a:ext cx="5360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Richards’</a:t>
            </a:r>
            <a:r>
              <a:rPr lang="zh-CN" altLang="en-US" sz="4400" dirty="0">
                <a:solidFill>
                  <a:srgbClr val="0432FF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equation</a:t>
            </a:r>
            <a:endParaRPr lang="en-US" sz="4400" dirty="0">
              <a:solidFill>
                <a:srgbClr val="0432FF"/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73F8A-9833-386B-F468-B12D74EA5B10}"/>
              </a:ext>
            </a:extLst>
          </p:cNvPr>
          <p:cNvSpPr txBox="1"/>
          <p:nvPr/>
        </p:nvSpPr>
        <p:spPr>
          <a:xfrm>
            <a:off x="6958735" y="5998361"/>
            <a:ext cx="3522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Osei-</a:t>
            </a:r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Kuffuor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et al., AWR,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2014;</a:t>
            </a:r>
          </a:p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Maxwell,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AWR,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2013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8F3C7C-7413-A57D-017A-0D411684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440" y="1358144"/>
            <a:ext cx="6261100" cy="85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0A74D7-E10E-7668-7168-298C175E6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73" b="1"/>
          <a:stretch>
            <a:fillRect/>
          </a:stretch>
        </p:blipFill>
        <p:spPr>
          <a:xfrm>
            <a:off x="2549449" y="2454942"/>
            <a:ext cx="6210300" cy="71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4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806B-9CE7-53B6-94B0-FDB51759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061D5D-08C0-A6B0-A111-FE9E0FB0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2297783"/>
            <a:ext cx="4203700" cy="106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5D30D5-54F3-04B8-AAF4-40B6A05DAC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839"/>
          <a:stretch>
            <a:fillRect/>
          </a:stretch>
        </p:blipFill>
        <p:spPr>
          <a:xfrm>
            <a:off x="815702" y="1150104"/>
            <a:ext cx="3928285" cy="1079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20FAA8-7C22-C832-8ACD-D36ECEDCDD5C}"/>
              </a:ext>
            </a:extLst>
          </p:cNvPr>
          <p:cNvSpPr txBox="1"/>
          <p:nvPr/>
        </p:nvSpPr>
        <p:spPr>
          <a:xfrm>
            <a:off x="2921385" y="352248"/>
            <a:ext cx="6646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Shallow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water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equation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ECCB0-B863-8A18-67D9-11821E330A4A}"/>
              </a:ext>
            </a:extLst>
          </p:cNvPr>
          <p:cNvSpPr txBox="1"/>
          <p:nvPr/>
        </p:nvSpPr>
        <p:spPr>
          <a:xfrm>
            <a:off x="811337" y="3355761"/>
            <a:ext cx="4092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inematic wave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approximation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A9A64-F71A-AD6E-7457-58758F0F8A61}"/>
              </a:ext>
            </a:extLst>
          </p:cNvPr>
          <p:cNvSpPr txBox="1"/>
          <p:nvPr/>
        </p:nvSpPr>
        <p:spPr>
          <a:xfrm>
            <a:off x="1258888" y="1099718"/>
            <a:ext cx="265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Continuity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equation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90D57-EE15-0A1C-EA9C-377A1A37368F}"/>
              </a:ext>
            </a:extLst>
          </p:cNvPr>
          <p:cNvSpPr txBox="1"/>
          <p:nvPr/>
        </p:nvSpPr>
        <p:spPr>
          <a:xfrm>
            <a:off x="1163509" y="2276261"/>
            <a:ext cx="28408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Momentum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equation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D5757-25AD-4754-F1D8-7498DC2F3FA2}"/>
              </a:ext>
            </a:extLst>
          </p:cNvPr>
          <p:cNvSpPr txBox="1"/>
          <p:nvPr/>
        </p:nvSpPr>
        <p:spPr>
          <a:xfrm>
            <a:off x="8023235" y="6127088"/>
            <a:ext cx="3595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Kollet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and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Maxwell,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AWR,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  <a:cs typeface="+mn-cs"/>
              </a:rPr>
              <a:t>2006</a:t>
            </a:r>
          </a:p>
          <a:p>
            <a:pPr lvl="0"/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Osei-</a:t>
            </a:r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Kuffuor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et al., AWR,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2014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9F4EB8-B5A4-A313-DDC5-440045D00A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602"/>
          <a:stretch>
            <a:fillRect/>
          </a:stretch>
        </p:blipFill>
        <p:spPr>
          <a:xfrm>
            <a:off x="2152130" y="3707762"/>
            <a:ext cx="863600" cy="3362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A96E83-15F1-40D6-D755-AB849E1A2D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50"/>
          <a:stretch>
            <a:fillRect/>
          </a:stretch>
        </p:blipFill>
        <p:spPr>
          <a:xfrm>
            <a:off x="2779844" y="5420525"/>
            <a:ext cx="6858000" cy="7572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84B27B-8DC8-7C3A-7208-B26496DB68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4536034"/>
            <a:ext cx="20320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3C28FB1-12E3-CF51-0995-6C4C98A78841}"/>
              </a:ext>
            </a:extLst>
          </p:cNvPr>
          <p:cNvSpPr txBox="1"/>
          <p:nvPr/>
        </p:nvSpPr>
        <p:spPr>
          <a:xfrm>
            <a:off x="1223621" y="4240925"/>
            <a:ext cx="2685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</a:defRPr>
            </a:lvl1pPr>
          </a:lstStyle>
          <a:p>
            <a:r>
              <a:rPr lang="en-US" dirty="0"/>
              <a:t>Manning’s equation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777000E-BA86-BDA4-0529-84C8B94E2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4780" y="1461237"/>
            <a:ext cx="4319143" cy="307479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643F754-5CCA-B0D1-E14E-8CB37FCC75E1}"/>
              </a:ext>
            </a:extLst>
          </p:cNvPr>
          <p:cNvSpPr txBox="1"/>
          <p:nvPr/>
        </p:nvSpPr>
        <p:spPr>
          <a:xfrm>
            <a:off x="8647558" y="4614755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ParFlow</a:t>
            </a:r>
            <a:endParaRPr lang="en-US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287809-27E9-62D8-81FA-C4E3C0FB1F45}"/>
              </a:ext>
            </a:extLst>
          </p:cNvPr>
          <p:cNvSpPr txBox="1"/>
          <p:nvPr/>
        </p:nvSpPr>
        <p:spPr>
          <a:xfrm>
            <a:off x="6358975" y="4614755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432FF"/>
                </a:solidFill>
                <a:latin typeface="Century Gothic" panose="020B0502020202020204" pitchFamily="34" charset="0"/>
              </a:rPr>
              <a:t>Previous</a:t>
            </a:r>
            <a:r>
              <a:rPr lang="zh-CN" altLang="en-US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dirty="0">
                <a:solidFill>
                  <a:srgbClr val="0432FF"/>
                </a:solidFill>
                <a:latin typeface="Century Gothic" panose="020B0502020202020204" pitchFamily="34" charset="0"/>
              </a:rPr>
              <a:t>studies</a:t>
            </a:r>
            <a:endParaRPr lang="en-US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91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C1B2-A8C1-2818-4554-A931204BB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AF59B6-4598-0416-471A-6BE35B4B8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976" y="1322129"/>
            <a:ext cx="5577840" cy="1687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4D9BD5-A5E3-C31A-F70E-C47CDA2BC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253" y="3848749"/>
            <a:ext cx="6159500" cy="2120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8CA548-339E-670D-18E9-58646624C67A}"/>
              </a:ext>
            </a:extLst>
          </p:cNvPr>
          <p:cNvSpPr txBox="1"/>
          <p:nvPr/>
        </p:nvSpPr>
        <p:spPr>
          <a:xfrm>
            <a:off x="6267631" y="768194"/>
            <a:ext cx="5022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entury Gothic" panose="020B0502020202020204" pitchFamily="34" charset="0"/>
                <a:ea typeface="等线" panose="02010600030101010101" pitchFamily="2" charset="-122"/>
              </a:defRPr>
            </a:lvl1pPr>
          </a:lstStyle>
          <a:p>
            <a:r>
              <a:rPr lang="en-US" dirty="0"/>
              <a:t>the nonlinear function to be evaluated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42899F-ECBF-3C48-897C-D6B9F4EB5FE5}"/>
              </a:ext>
            </a:extLst>
          </p:cNvPr>
          <p:cNvSpPr/>
          <p:nvPr/>
        </p:nvSpPr>
        <p:spPr>
          <a:xfrm>
            <a:off x="7778765" y="2496505"/>
            <a:ext cx="709301" cy="6665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07452B-C630-CE59-1E3E-09DF14F6F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22" y="3604046"/>
            <a:ext cx="4114800" cy="2227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7B2090-06CD-329A-BC57-8EC2AC22C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91" y="1266598"/>
            <a:ext cx="5394960" cy="233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D53E-CB80-E592-AD13-0F9A989E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E87D80-F908-3201-D89A-F9FBB2BD92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75" r="9837"/>
          <a:stretch/>
        </p:blipFill>
        <p:spPr>
          <a:xfrm>
            <a:off x="507257" y="2190750"/>
            <a:ext cx="4025463" cy="2641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65258B-9C93-1182-B31A-199AA14EE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40" y="165100"/>
            <a:ext cx="6743700" cy="6692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F52B19-DFA0-3F1A-4D92-497C19E3080F}"/>
              </a:ext>
            </a:extLst>
          </p:cNvPr>
          <p:cNvSpPr txBox="1"/>
          <p:nvPr/>
        </p:nvSpPr>
        <p:spPr>
          <a:xfrm>
            <a:off x="399582" y="433954"/>
            <a:ext cx="45801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Integrated</a:t>
            </a:r>
            <a:r>
              <a:rPr lang="zh-CN" altLang="en-US" sz="40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endParaRPr lang="en-US" altLang="zh-CN" sz="4000" b="1" dirty="0">
              <a:solidFill>
                <a:srgbClr val="0432FF"/>
              </a:solidFill>
              <a:latin typeface="Century Gothic" panose="020B0502020202020204" pitchFamily="34" charset="0"/>
            </a:endParaRPr>
          </a:p>
          <a:p>
            <a:r>
              <a:rPr lang="en-US" altLang="zh-CN" sz="4000" dirty="0">
                <a:solidFill>
                  <a:srgbClr val="0432FF"/>
                </a:solidFill>
                <a:latin typeface="Century Gothic" panose="020B0502020202020204" pitchFamily="34" charset="0"/>
              </a:rPr>
              <a:t>hydrologic</a:t>
            </a:r>
            <a:r>
              <a:rPr lang="zh-CN" altLang="en-US" sz="4000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sz="4000" dirty="0">
                <a:solidFill>
                  <a:srgbClr val="0432FF"/>
                </a:solidFill>
                <a:latin typeface="Century Gothic" panose="020B0502020202020204" pitchFamily="34" charset="0"/>
              </a:rPr>
              <a:t>model</a:t>
            </a:r>
            <a:endParaRPr lang="en-US" sz="4000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B1166-82BA-454E-E063-C738E2C7AEAF}"/>
              </a:ext>
            </a:extLst>
          </p:cNvPr>
          <p:cNvSpPr txBox="1"/>
          <p:nvPr/>
        </p:nvSpPr>
        <p:spPr>
          <a:xfrm>
            <a:off x="5920353" y="557940"/>
            <a:ext cx="1773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entury Gothic" panose="020B0502020202020204" pitchFamily="34" charset="0"/>
              </a:rPr>
              <a:t>Surface-Surface</a:t>
            </a:r>
            <a:endParaRPr lang="en-US" sz="16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CA97C-DA3A-240E-074E-5041F11B6B35}"/>
              </a:ext>
            </a:extLst>
          </p:cNvPr>
          <p:cNvSpPr txBox="1"/>
          <p:nvPr/>
        </p:nvSpPr>
        <p:spPr>
          <a:xfrm>
            <a:off x="9249908" y="585106"/>
            <a:ext cx="2117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entury Gothic" panose="020B0502020202020204" pitchFamily="34" charset="0"/>
              </a:rPr>
              <a:t>Surface-Subsurface</a:t>
            </a:r>
            <a:endParaRPr lang="en-US" sz="16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410D8-ADB2-62F0-B229-E89C2139CEE5}"/>
              </a:ext>
            </a:extLst>
          </p:cNvPr>
          <p:cNvSpPr txBox="1"/>
          <p:nvPr/>
        </p:nvSpPr>
        <p:spPr>
          <a:xfrm>
            <a:off x="5372749" y="4108387"/>
            <a:ext cx="2117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entury Gothic" panose="020B0502020202020204" pitchFamily="34" charset="0"/>
              </a:rPr>
              <a:t>Subsurface-Surface</a:t>
            </a:r>
            <a:endParaRPr lang="en-US" sz="16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B6C67-0685-7EA2-016A-A90A78311AE5}"/>
              </a:ext>
            </a:extLst>
          </p:cNvPr>
          <p:cNvSpPr txBox="1"/>
          <p:nvPr/>
        </p:nvSpPr>
        <p:spPr>
          <a:xfrm>
            <a:off x="8857287" y="4061892"/>
            <a:ext cx="2462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entury Gothic" panose="020B0502020202020204" pitchFamily="34" charset="0"/>
              </a:rPr>
              <a:t>Subsurface-Subsurface</a:t>
            </a:r>
            <a:endParaRPr lang="en-US" sz="16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7D3A8-B2F7-A55D-09A2-16BDEFCD4866}"/>
              </a:ext>
            </a:extLst>
          </p:cNvPr>
          <p:cNvSpPr txBox="1"/>
          <p:nvPr/>
        </p:nvSpPr>
        <p:spPr>
          <a:xfrm>
            <a:off x="1356776" y="4742040"/>
            <a:ext cx="232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二维剖面</a:t>
            </a:r>
            <a:endParaRPr lang="en-US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714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2E74C8-2F0A-A61E-5431-CF688F4D86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1"/>
          <a:stretch/>
        </p:blipFill>
        <p:spPr>
          <a:xfrm>
            <a:off x="2239101" y="1001052"/>
            <a:ext cx="7713798" cy="41376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F597D6-3061-63F1-3101-F1804BE57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8" r="35423" b="85630"/>
          <a:stretch/>
        </p:blipFill>
        <p:spPr>
          <a:xfrm>
            <a:off x="1892109" y="5662215"/>
            <a:ext cx="3739021" cy="3894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6A69B3-DF61-A353-B5A0-D97DE7A7C0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343" r="28407"/>
          <a:stretch/>
        </p:blipFill>
        <p:spPr>
          <a:xfrm>
            <a:off x="6375879" y="5416126"/>
            <a:ext cx="4145280" cy="1041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D8C3A8-ECA6-D649-1646-ABB12CED6244}"/>
              </a:ext>
            </a:extLst>
          </p:cNvPr>
          <p:cNvSpPr txBox="1"/>
          <p:nvPr/>
        </p:nvSpPr>
        <p:spPr>
          <a:xfrm>
            <a:off x="2509442" y="231611"/>
            <a:ext cx="75664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Terrain</a:t>
            </a:r>
            <a:r>
              <a:rPr lang="zh-CN" altLang="en-US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Following</a:t>
            </a:r>
            <a:r>
              <a:rPr lang="zh-CN" altLang="en-US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Grid</a:t>
            </a:r>
            <a:r>
              <a:rPr lang="zh-CN" altLang="en-US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(TFG)</a:t>
            </a:r>
            <a:endParaRPr lang="en-US" sz="4400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754EF-7C3B-7848-C7EC-167382607A88}"/>
              </a:ext>
            </a:extLst>
          </p:cNvPr>
          <p:cNvSpPr txBox="1"/>
          <p:nvPr/>
        </p:nvSpPr>
        <p:spPr>
          <a:xfrm>
            <a:off x="9618134" y="6365608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rPr>
              <a:t>Maxwell,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rPr>
              <a:t>AWR,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rPr>
              <a:t>2013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136C3-E106-94A2-10C6-B2F8571A0FED}"/>
              </a:ext>
            </a:extLst>
          </p:cNvPr>
          <p:cNvSpPr txBox="1"/>
          <p:nvPr/>
        </p:nvSpPr>
        <p:spPr>
          <a:xfrm>
            <a:off x="703384" y="23680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正交网格</a:t>
            </a:r>
            <a:endParaRPr lang="en-US" b="1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6DA94-3C61-05F5-F445-AE6ECFE2BE1C}"/>
              </a:ext>
            </a:extLst>
          </p:cNvPr>
          <p:cNvSpPr txBox="1"/>
          <p:nvPr/>
        </p:nvSpPr>
        <p:spPr>
          <a:xfrm>
            <a:off x="703384" y="4120607"/>
            <a:ext cx="58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432FF"/>
                </a:solidFill>
                <a:latin typeface="Century Gothic" panose="020B0502020202020204" pitchFamily="34" charset="0"/>
              </a:rPr>
              <a:t>TFG</a:t>
            </a:r>
            <a:endParaRPr lang="en-US" b="1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98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4D70-909C-D2DB-BBC0-AC681DAA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arFlow hydrologic model">
            <a:extLst>
              <a:ext uri="{FF2B5EF4-FFF2-40B4-BE49-F238E27FC236}">
                <a16:creationId xmlns:a16="http://schemas.microsoft.com/office/drawing/2014/main" id="{98B522D5-ED3F-7CA7-BF2A-3BC1CAF7C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016000"/>
            <a:ext cx="7162800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769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9447A6-C87C-88E1-92E8-4B4BA50DD2E9}"/>
              </a:ext>
            </a:extLst>
          </p:cNvPr>
          <p:cNvSpPr txBox="1"/>
          <p:nvPr/>
        </p:nvSpPr>
        <p:spPr>
          <a:xfrm>
            <a:off x="3464871" y="329819"/>
            <a:ext cx="5537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en-US" sz="4800" dirty="0">
                <a:solidFill>
                  <a:srgbClr val="0432FF"/>
                </a:solidFill>
                <a:latin typeface="Century Gothic" panose="020B0502020202020204" pitchFamily="34" charset="0"/>
              </a:rPr>
              <a:t>Newton’s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ADDEE-B3C2-F244-F6AB-EAA3F06794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542"/>
          <a:stretch>
            <a:fillRect/>
          </a:stretch>
        </p:blipFill>
        <p:spPr>
          <a:xfrm>
            <a:off x="670792" y="1595926"/>
            <a:ext cx="5425208" cy="3666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B93CC5-CF2B-9998-AB76-BB25AD08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55"/>
          <a:stretch>
            <a:fillRect/>
          </a:stretch>
        </p:blipFill>
        <p:spPr>
          <a:xfrm>
            <a:off x="6216500" y="1822698"/>
            <a:ext cx="5425208" cy="321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0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F0DCB2-9DAA-6E64-A557-01B8DF0E7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063" y="512744"/>
            <a:ext cx="7772400" cy="603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1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AB6DD6-F117-C18B-E311-82DB5C0E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475" y="601357"/>
            <a:ext cx="7772400" cy="5929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108B08-82BE-0E07-BF86-AE4592FC3C6F}"/>
              </a:ext>
            </a:extLst>
          </p:cNvPr>
          <p:cNvSpPr txBox="1"/>
          <p:nvPr/>
        </p:nvSpPr>
        <p:spPr>
          <a:xfrm>
            <a:off x="351941" y="2705725"/>
            <a:ext cx="310533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Function</a:t>
            </a:r>
            <a:r>
              <a:rPr lang="zh-CN" altLang="en-US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endParaRPr lang="en-US" altLang="zh-CN" sz="4400" dirty="0">
              <a:solidFill>
                <a:srgbClr val="0432FF"/>
              </a:solidFill>
              <a:latin typeface="Century Gothic" panose="020B0502020202020204" pitchFamily="34" charset="0"/>
            </a:endParaRPr>
          </a:p>
          <a:p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evaluation</a:t>
            </a:r>
            <a:endParaRPr lang="en-US" sz="4400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16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926939-F6A8-B81B-8CA2-740AB9FF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72" y="601183"/>
            <a:ext cx="7772400" cy="5655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1FE9B0-D4EB-DF31-823E-4FF4BAE90DF1}"/>
              </a:ext>
            </a:extLst>
          </p:cNvPr>
          <p:cNvSpPr txBox="1"/>
          <p:nvPr/>
        </p:nvSpPr>
        <p:spPr>
          <a:xfrm>
            <a:off x="247847" y="2825397"/>
            <a:ext cx="28023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0432FF"/>
                </a:solidFill>
                <a:latin typeface="Century Gothic" panose="020B0502020202020204" pitchFamily="34" charset="0"/>
              </a:rPr>
              <a:t>Jacobian</a:t>
            </a:r>
            <a:endParaRPr lang="en-US" sz="4400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642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CFE747-6060-ECD1-417A-02BF38F4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0349"/>
            <a:ext cx="7772400" cy="635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5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B22599-D021-41FD-24D8-BF617426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864" y="561001"/>
            <a:ext cx="7772400" cy="57359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00F6B9-251F-8823-5AD2-9035AB44894F}"/>
              </a:ext>
            </a:extLst>
          </p:cNvPr>
          <p:cNvSpPr txBox="1"/>
          <p:nvPr/>
        </p:nvSpPr>
        <p:spPr>
          <a:xfrm>
            <a:off x="157210" y="2318217"/>
            <a:ext cx="53377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Krylov</a:t>
            </a:r>
            <a:r>
              <a:rPr lang="zh-CN" altLang="en-US" sz="4000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sz="4000" dirty="0">
                <a:solidFill>
                  <a:srgbClr val="0432FF"/>
                </a:solidFill>
                <a:latin typeface="Century Gothic" panose="020B0502020202020204" pitchFamily="34" charset="0"/>
              </a:rPr>
              <a:t>method</a:t>
            </a:r>
          </a:p>
          <a:p>
            <a:r>
              <a:rPr lang="en-US" altLang="zh-CN" sz="2800" dirty="0">
                <a:solidFill>
                  <a:srgbClr val="0432FF"/>
                </a:solidFill>
                <a:latin typeface="Century Gothic" panose="020B0502020202020204" pitchFamily="34" charset="0"/>
              </a:rPr>
              <a:t>CG</a:t>
            </a:r>
          </a:p>
          <a:p>
            <a:r>
              <a:rPr lang="en-US" altLang="zh-CN" sz="2800" dirty="0">
                <a:solidFill>
                  <a:srgbClr val="0432FF"/>
                </a:solidFill>
                <a:latin typeface="Century Gothic" panose="020B0502020202020204" pitchFamily="34" charset="0"/>
              </a:rPr>
              <a:t>GMRES</a:t>
            </a:r>
            <a:endParaRPr lang="en-US" sz="2800" dirty="0">
              <a:solidFill>
                <a:srgbClr val="0432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93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819B81-1EBF-287C-00C2-6A211E7B9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272" y="448824"/>
            <a:ext cx="7772400" cy="583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62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10C866-2088-5FDD-B791-9B276628E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28632"/>
            <a:ext cx="7772400" cy="540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14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95DEB-2816-63D5-AF57-FF4EFDF00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7005"/>
            <a:ext cx="7772400" cy="584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06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8F6BB9-4186-8A10-A612-D56EC9EB3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6131"/>
            <a:ext cx="7772400" cy="592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60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D8D06A-99FD-DF0E-999F-45F9530A3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15407"/>
            <a:ext cx="7772400" cy="582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25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6CDB73-AFB8-B9E1-8F43-EA499F808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04146"/>
            <a:ext cx="7772400" cy="544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72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9A6338-2430-BDB7-C229-9ABBA3F9E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04" y="46618"/>
            <a:ext cx="9728675" cy="676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5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489FE9-9679-35EB-F71A-78A95FB36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5460"/>
            <a:ext cx="7772400" cy="604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1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6C3922-28A2-BEC0-E74D-C525D2E8A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3214"/>
            <a:ext cx="7772400" cy="59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59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66E8-A5A3-7BF6-574A-4EE6C1FC5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7200" dirty="0"/>
          </a:p>
          <a:p>
            <a:pPr marL="0" indent="0" algn="ctr">
              <a:buNone/>
            </a:pPr>
            <a:r>
              <a:rPr lang="en-US" altLang="zh-CN" sz="7200" dirty="0"/>
              <a:t>Thank</a:t>
            </a:r>
            <a:r>
              <a:rPr lang="zh-CN" altLang="en-US" sz="7200" dirty="0"/>
              <a:t> </a:t>
            </a:r>
            <a:r>
              <a:rPr lang="en-US" altLang="zh-CN" sz="7200" dirty="0"/>
              <a:t>you!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23329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B20DA4-7E45-3981-55CB-33264EAFE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197" y="0"/>
            <a:ext cx="637360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5F2197-FE54-0C4F-CBC8-5152AFED82A5}"/>
              </a:ext>
            </a:extLst>
          </p:cNvPr>
          <p:cNvSpPr/>
          <p:nvPr/>
        </p:nvSpPr>
        <p:spPr>
          <a:xfrm>
            <a:off x="2909197" y="3590223"/>
            <a:ext cx="6244428" cy="32677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4829F-1A95-D1AE-EC1B-72F2C90E935F}"/>
              </a:ext>
            </a:extLst>
          </p:cNvPr>
          <p:cNvSpPr/>
          <p:nvPr/>
        </p:nvSpPr>
        <p:spPr>
          <a:xfrm>
            <a:off x="4610746" y="2340244"/>
            <a:ext cx="4471261" cy="867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47942-B66B-4577-DC0A-7730E2FA1EBD}"/>
              </a:ext>
            </a:extLst>
          </p:cNvPr>
          <p:cNvSpPr txBox="1"/>
          <p:nvPr/>
        </p:nvSpPr>
        <p:spPr>
          <a:xfrm>
            <a:off x="9282803" y="6343155"/>
            <a:ext cx="3053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131413"/>
                </a:solidFill>
                <a:effectLst/>
                <a:latin typeface="Helvetica" pitchFamily="2" charset="0"/>
              </a:rPr>
              <a:t>Hokkanen</a:t>
            </a:r>
            <a:r>
              <a:rPr lang="zh-CN" altLang="en-US" i="1" dirty="0">
                <a:solidFill>
                  <a:srgbClr val="13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i="1" dirty="0">
                <a:solidFill>
                  <a:srgbClr val="131413"/>
                </a:solidFill>
                <a:effectLst/>
                <a:latin typeface="Helvetica" pitchFamily="2" charset="0"/>
              </a:rPr>
              <a:t>et</a:t>
            </a:r>
            <a:r>
              <a:rPr lang="zh-CN" altLang="en-US" i="1" dirty="0">
                <a:solidFill>
                  <a:srgbClr val="13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i="1" dirty="0">
                <a:solidFill>
                  <a:srgbClr val="131413"/>
                </a:solidFill>
                <a:effectLst/>
                <a:latin typeface="Helvetica" pitchFamily="2" charset="0"/>
              </a:rPr>
              <a:t>al.,</a:t>
            </a:r>
            <a:r>
              <a:rPr lang="zh-CN" altLang="en-US" i="1" dirty="0">
                <a:solidFill>
                  <a:srgbClr val="13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i="1" dirty="0">
                <a:solidFill>
                  <a:srgbClr val="131413"/>
                </a:solidFill>
                <a:effectLst/>
                <a:latin typeface="Helvetica" pitchFamily="2" charset="0"/>
              </a:rPr>
              <a:t>2021</a:t>
            </a:r>
            <a:endParaRPr lang="en-US" dirty="0">
              <a:solidFill>
                <a:srgbClr val="131413"/>
              </a:solidFill>
              <a:effectLst/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CA541-4D2C-9A85-22C9-BF47654215F2}"/>
              </a:ext>
            </a:extLst>
          </p:cNvPr>
          <p:cNvSpPr txBox="1"/>
          <p:nvPr/>
        </p:nvSpPr>
        <p:spPr>
          <a:xfrm>
            <a:off x="190031" y="1087226"/>
            <a:ext cx="4357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err="1">
                <a:solidFill>
                  <a:srgbClr val="0432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ParFlow</a:t>
            </a:r>
            <a:r>
              <a:rPr lang="zh-CN" altLang="en-US" sz="4000" dirty="0">
                <a:solidFill>
                  <a:srgbClr val="0432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4000" dirty="0">
                <a:solidFill>
                  <a:srgbClr val="0432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GPU</a:t>
            </a:r>
            <a:r>
              <a:rPr lang="zh-CN" altLang="en-US" sz="4000" dirty="0">
                <a:solidFill>
                  <a:srgbClr val="0432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并行</a:t>
            </a:r>
            <a:endParaRPr lang="en-US" sz="4000" dirty="0">
              <a:solidFill>
                <a:srgbClr val="0432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880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6F8D35-687B-8EA7-D105-3DBFBC8BD3AC}"/>
              </a:ext>
            </a:extLst>
          </p:cNvPr>
          <p:cNvSpPr txBox="1"/>
          <p:nvPr/>
        </p:nvSpPr>
        <p:spPr>
          <a:xfrm>
            <a:off x="600560" y="214416"/>
            <a:ext cx="112953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0432FF"/>
                </a:solidFill>
              </a:defRPr>
            </a:lvl1pPr>
          </a:lstStyle>
          <a:p>
            <a:pPr algn="ctr"/>
            <a:r>
              <a:rPr lang="en-US" dirty="0" err="1"/>
              <a:t>ParFlow</a:t>
            </a:r>
            <a:r>
              <a:rPr lang="en-US" dirty="0"/>
              <a:t> embedded domain-specific language</a:t>
            </a:r>
          </a:p>
          <a:p>
            <a:pPr algn="ctr"/>
            <a:r>
              <a:rPr lang="en-US" altLang="zh-CN" dirty="0"/>
              <a:t>(</a:t>
            </a:r>
            <a:r>
              <a:rPr lang="en-US" dirty="0" err="1"/>
              <a:t>ParFlow</a:t>
            </a:r>
            <a:r>
              <a:rPr lang="zh-CN" altLang="en-US" dirty="0"/>
              <a:t> </a:t>
            </a:r>
            <a:r>
              <a:rPr lang="en-US" altLang="zh-CN" dirty="0" err="1"/>
              <a:t>eDSL</a:t>
            </a:r>
            <a:r>
              <a:rPr lang="en-US" altLang="zh-CN" dirty="0"/>
              <a:t>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73A9E-5D17-34D0-BEA3-71BBB697A1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559"/>
          <a:stretch/>
        </p:blipFill>
        <p:spPr>
          <a:xfrm>
            <a:off x="422574" y="2436422"/>
            <a:ext cx="5472455" cy="2834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87D35B-70F0-5BE3-05F7-F9B7AA8142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976"/>
          <a:stretch/>
        </p:blipFill>
        <p:spPr>
          <a:xfrm>
            <a:off x="6386760" y="2253542"/>
            <a:ext cx="519689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228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88A8FE-A72B-7882-5ECC-5A84D831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52" y="1673205"/>
            <a:ext cx="402590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89158C-0D58-D943-253A-17FBCCF0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594" y="344450"/>
            <a:ext cx="5253482" cy="1174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4CF1A-A041-7546-5BC4-316ED6CAF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870" y="1307445"/>
            <a:ext cx="5140706" cy="1447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42AF99-CD26-DE5A-9B0F-646B9D9AE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870" y="3082183"/>
            <a:ext cx="4715256" cy="31175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1BCE92-8E5D-D865-9F78-0D38CC99DEB0}"/>
              </a:ext>
            </a:extLst>
          </p:cNvPr>
          <p:cNvSpPr txBox="1"/>
          <p:nvPr/>
        </p:nvSpPr>
        <p:spPr>
          <a:xfrm>
            <a:off x="7867850" y="4708356"/>
            <a:ext cx="3836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/>
                <a:latin typeface="Times"/>
              </a:rPr>
              <a:t>Rapids Memory Manager (RMM)</a:t>
            </a:r>
          </a:p>
        </p:txBody>
      </p:sp>
    </p:spTree>
    <p:extLst>
      <p:ext uri="{BB962C8B-B14F-4D97-AF65-F5344CB8AC3E}">
        <p14:creationId xmlns:p14="http://schemas.microsoft.com/office/powerpoint/2010/main" val="258550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82E77C-B223-BE32-3094-8D5C6762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20" y="357605"/>
            <a:ext cx="5011801" cy="3148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5C3556-1623-4402-8AE0-76A03C6F6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9" y="3700934"/>
            <a:ext cx="4867148" cy="2799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45C9F2-B406-E17F-467D-106DA04E5F7E}"/>
              </a:ext>
            </a:extLst>
          </p:cNvPr>
          <p:cNvSpPr txBox="1"/>
          <p:nvPr/>
        </p:nvSpPr>
        <p:spPr>
          <a:xfrm>
            <a:off x="3815614" y="5921139"/>
            <a:ext cx="126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432FF"/>
                </a:solidFill>
                <a:effectLst/>
                <a:latin typeface="Times"/>
              </a:rPr>
              <a:t>CPU</a:t>
            </a:r>
            <a:endParaRPr lang="en-US" b="1" dirty="0">
              <a:solidFill>
                <a:srgbClr val="0432FF"/>
              </a:solidFill>
              <a:effectLst/>
              <a:latin typeface="Time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6E198-0E70-CC82-F67B-162735ECF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442" y="173912"/>
            <a:ext cx="3967480" cy="2591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B91353-E853-97CD-057C-1CC61B98C3B8}"/>
              </a:ext>
            </a:extLst>
          </p:cNvPr>
          <p:cNvSpPr txBox="1"/>
          <p:nvPr/>
        </p:nvSpPr>
        <p:spPr>
          <a:xfrm>
            <a:off x="9765222" y="2344286"/>
            <a:ext cx="126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432FF"/>
                </a:solidFill>
                <a:latin typeface="Times"/>
              </a:rPr>
              <a:t>G</a:t>
            </a:r>
            <a:r>
              <a:rPr lang="en-US" altLang="zh-CN" b="1" dirty="0">
                <a:solidFill>
                  <a:srgbClr val="0432FF"/>
                </a:solidFill>
                <a:effectLst/>
                <a:latin typeface="Times"/>
              </a:rPr>
              <a:t>PU</a:t>
            </a:r>
            <a:endParaRPr lang="en-US" b="1" dirty="0">
              <a:solidFill>
                <a:srgbClr val="0432FF"/>
              </a:solidFill>
              <a:effectLst/>
              <a:latin typeface="Time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05E117-A122-1755-F51D-49776AD59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94" y="3065799"/>
            <a:ext cx="4016375" cy="34994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568F8D-30FB-9F41-41A3-AF56F103F3C0}"/>
              </a:ext>
            </a:extLst>
          </p:cNvPr>
          <p:cNvSpPr txBox="1"/>
          <p:nvPr/>
        </p:nvSpPr>
        <p:spPr>
          <a:xfrm>
            <a:off x="8868469" y="5736473"/>
            <a:ext cx="1988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432FF"/>
                </a:solidFill>
                <a:latin typeface="Times"/>
              </a:rPr>
              <a:t>CUDA</a:t>
            </a:r>
            <a:r>
              <a:rPr lang="zh-CN" altLang="en-US" b="1" dirty="0">
                <a:solidFill>
                  <a:srgbClr val="0432FF"/>
                </a:solidFill>
                <a:latin typeface="Times"/>
              </a:rPr>
              <a:t> </a:t>
            </a:r>
            <a:r>
              <a:rPr lang="en-US" altLang="zh-CN" b="1" dirty="0">
                <a:solidFill>
                  <a:srgbClr val="0432FF"/>
                </a:solidFill>
                <a:latin typeface="Times"/>
              </a:rPr>
              <a:t>Kernel</a:t>
            </a:r>
            <a:endParaRPr lang="en-US" b="1" dirty="0">
              <a:solidFill>
                <a:srgbClr val="0432FF"/>
              </a:solidFill>
              <a:effectLst/>
              <a:latin typeface="Time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A22854-7101-6BBA-5CE4-A6552B5D017F}"/>
              </a:ext>
            </a:extLst>
          </p:cNvPr>
          <p:cNvSpPr txBox="1"/>
          <p:nvPr/>
        </p:nvSpPr>
        <p:spPr>
          <a:xfrm>
            <a:off x="8230558" y="1481250"/>
            <a:ext cx="3546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/>
                <a:latin typeface="Times"/>
              </a:rPr>
              <a:t>extended host-device lambda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F19BD7-BAE7-0916-0D0B-B38578F7C3C1}"/>
              </a:ext>
            </a:extLst>
          </p:cNvPr>
          <p:cNvSpPr/>
          <p:nvPr/>
        </p:nvSpPr>
        <p:spPr>
          <a:xfrm>
            <a:off x="9066998" y="2175309"/>
            <a:ext cx="795885" cy="168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8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EFE42F-25DF-3A80-62BC-E33883FD7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" y="1016134"/>
            <a:ext cx="5520690" cy="4147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8049C7-752E-E40F-F932-6DDA31871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257" y="306885"/>
            <a:ext cx="5142865" cy="1461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3C2466-0776-F2DF-6823-EF771ED11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257" y="1798850"/>
            <a:ext cx="5104638" cy="1088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3225B-51E0-EBF9-7271-B294E2C9A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57" y="2886986"/>
            <a:ext cx="4808220" cy="3436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BB76EC-243E-2DAA-C4D4-1462C8FB64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1696" y="5163954"/>
            <a:ext cx="2552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7529ED-C218-8AD8-1E17-2DAAA0BB2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073" y="461144"/>
            <a:ext cx="7302500" cy="547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CB9078-2657-E8FD-4D89-C4F0D9566E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185" r="59186" b="-1"/>
          <a:stretch/>
        </p:blipFill>
        <p:spPr>
          <a:xfrm>
            <a:off x="4042211" y="5555682"/>
            <a:ext cx="1648326" cy="50626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C135F-FF05-C17C-B074-36BD5759F6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329" t="15185" b="-1"/>
          <a:stretch/>
        </p:blipFill>
        <p:spPr>
          <a:xfrm>
            <a:off x="9268326" y="5555682"/>
            <a:ext cx="1723323" cy="50626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16BEB2-14FE-7168-9F8C-F26F1F1EFA6A}"/>
              </a:ext>
            </a:extLst>
          </p:cNvPr>
          <p:cNvSpPr txBox="1"/>
          <p:nvPr/>
        </p:nvSpPr>
        <p:spPr>
          <a:xfrm>
            <a:off x="532137" y="1982450"/>
            <a:ext cx="30059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0432FF"/>
                </a:solidFill>
              </a:rPr>
              <a:t>1</a:t>
            </a:r>
            <a:r>
              <a:rPr lang="zh-CN" altLang="en-US" sz="4400" dirty="0">
                <a:solidFill>
                  <a:srgbClr val="0432FF"/>
                </a:solidFill>
              </a:rPr>
              <a:t>个</a:t>
            </a:r>
            <a:r>
              <a:rPr lang="en-US" altLang="zh-CN" sz="4400" dirty="0">
                <a:solidFill>
                  <a:srgbClr val="0432FF"/>
                </a:solidFill>
              </a:rPr>
              <a:t>node</a:t>
            </a:r>
            <a:endParaRPr lang="en-US" sz="4400" dirty="0">
              <a:solidFill>
                <a:srgbClr val="0432FF"/>
              </a:solidFill>
            </a:endParaRPr>
          </a:p>
          <a:p>
            <a:r>
              <a:rPr lang="en-US" sz="4400" dirty="0" err="1">
                <a:solidFill>
                  <a:srgbClr val="0432FF"/>
                </a:solidFill>
              </a:rPr>
              <a:t>任务量增加</a:t>
            </a:r>
            <a:endParaRPr lang="en-US" sz="44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426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615598-0090-8F91-2351-F44A5F3D6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961" y="585801"/>
            <a:ext cx="7772400" cy="5686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D5723A-AE96-2F10-D3F4-6368C27A48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329" t="15185" b="-1"/>
          <a:stretch/>
        </p:blipFill>
        <p:spPr>
          <a:xfrm>
            <a:off x="1125324" y="3428999"/>
            <a:ext cx="1723323" cy="50626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9D642C-3B52-8D75-CEB2-C39A73F85FE1}"/>
              </a:ext>
            </a:extLst>
          </p:cNvPr>
          <p:cNvSpPr txBox="1"/>
          <p:nvPr/>
        </p:nvSpPr>
        <p:spPr>
          <a:xfrm>
            <a:off x="484010" y="693019"/>
            <a:ext cx="30059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rgbClr val="0432FF"/>
                </a:solidFill>
              </a:rPr>
              <a:t>任务量不变</a:t>
            </a:r>
            <a:endParaRPr lang="en-US" sz="4400" dirty="0">
              <a:solidFill>
                <a:srgbClr val="0432FF"/>
              </a:solidFill>
            </a:endParaRPr>
          </a:p>
          <a:p>
            <a:r>
              <a:rPr lang="en-US" sz="4400" dirty="0" err="1">
                <a:solidFill>
                  <a:srgbClr val="0432FF"/>
                </a:solidFill>
              </a:rPr>
              <a:t>增加nodes</a:t>
            </a:r>
            <a:endParaRPr lang="en-US" sz="44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135</Words>
  <Application>Microsoft Macintosh PowerPoint</Application>
  <PresentationFormat>Widescreen</PresentationFormat>
  <Paragraphs>52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Microsoft YaHei</vt:lpstr>
      <vt:lpstr>Microsoft YaHei UI</vt:lpstr>
      <vt:lpstr>Times</vt:lpstr>
      <vt:lpstr>Aptos</vt:lpstr>
      <vt:lpstr>Aptos Display</vt:lpstr>
      <vt:lpstr>Arial</vt:lpstr>
      <vt:lpstr>Century Gothic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 yang</dc:creator>
  <cp:lastModifiedBy>Chen Yang</cp:lastModifiedBy>
  <cp:revision>53</cp:revision>
  <dcterms:created xsi:type="dcterms:W3CDTF">2024-08-29T03:04:15Z</dcterms:created>
  <dcterms:modified xsi:type="dcterms:W3CDTF">2026-08-22T04:56:50Z</dcterms:modified>
</cp:coreProperties>
</file>