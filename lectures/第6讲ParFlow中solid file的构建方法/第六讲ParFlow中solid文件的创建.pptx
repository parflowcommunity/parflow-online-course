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37"/>
    <p:restoredTop sz="94659"/>
  </p:normalViewPr>
  <p:slideViewPr>
    <p:cSldViewPr snapToGrid="0">
      <p:cViewPr varScale="1">
        <p:scale>
          <a:sx n="181" d="100"/>
          <a:sy n="181" d="100"/>
        </p:scale>
        <p:origin x="200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3503F-737F-BA46-8078-627D290E6FFD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7F0B8-6AB7-0848-A40A-C08BB7888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19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7F0B8-6AB7-0848-A40A-C08BB78882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76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7F0B8-6AB7-0848-A40A-C08BB788823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21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7F0B8-6AB7-0848-A40A-C08BB788823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10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15EA4-B2E9-1C17-8D8C-6CD40E2F2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C8914-338B-FBD2-2052-2FA46FA22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56C40-58E4-CABA-74AF-AA16082F0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FB6-B139-4446-8C66-3CF6EABC52D6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BE929-B55A-C20A-662D-1EC29B9FD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0E63E-BC49-94B9-59C7-FCEF727C7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5A66-D857-5549-B2A7-C84BEA12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8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412F7-D07F-2292-77C4-459978B5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B200A-D3AD-D61A-7FF4-E25BC26A9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2A5D4-D1E1-BEE0-9088-D681E902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FB6-B139-4446-8C66-3CF6EABC52D6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0FAD6-361F-E24D-3B81-8D25BFC85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30ED0-EB19-C86A-ADEB-AB8C30520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5A66-D857-5549-B2A7-C84BEA12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548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756C6-1D87-C4E6-EF0D-260F0C36C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EAD35-4E37-0000-1E29-9E40500BD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F46E6-79AF-768B-B821-7028DE737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FB6-B139-4446-8C66-3CF6EABC52D6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E1A47-8041-0E12-22C6-3B5CC672F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26890-ED06-720A-1AA0-6420ACAD2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5A66-D857-5549-B2A7-C84BEA12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0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86C46-8A53-4F70-F8E7-E3613E5F6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82680-55F8-73F1-EBF2-A24187310D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424B39-1E07-9D27-16D1-5F81C8909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B399F-3B02-AB5F-7124-76045DCCD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FB6-B139-4446-8C66-3CF6EABC52D6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AC444-4A5D-2FBE-66C7-996ED16D2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1A9EB-4240-7D44-E8CF-A3D68618C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5A66-D857-5549-B2A7-C84BEA12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717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7CE02-A0A9-8F30-E8D3-B60A76EFD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94220-50EA-574A-839C-22E0203F1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95AE64-E604-3C5A-E642-2CCBE5CBC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05F414-6E42-A661-F171-239BE01FCB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958475-85CD-9204-18A0-58B7E38845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AE8992-9D78-DE3D-DD99-4ADE6B38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FB6-B139-4446-8C66-3CF6EABC52D6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F665AE-110D-ADF8-B00A-9B8206358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A0D2BE-439D-540A-D4D8-A557FDA2E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5A66-D857-5549-B2A7-C84BEA12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241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ACCEA-CCB1-9A90-747A-6552C0F36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C37DDF-029B-E35C-A5BD-761BA4A35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FB6-B139-4446-8C66-3CF6EABC52D6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AE8FAE-4886-C4B9-6178-FC80C935A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3CE79B-C519-A5DA-A165-773F53865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5A66-D857-5549-B2A7-C84BEA12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87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2EF3F-DE91-CB21-C4BF-8B226EFE2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FB6-B139-4446-8C66-3CF6EABC52D6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781D32-521C-87CF-82A8-4DC357C8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891DD-D8F6-37BE-DF7F-97B734904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5A66-D857-5549-B2A7-C84BEA12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07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38F8B-8E6C-1D84-5E75-3216BAB52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C0ED7-6BE7-3A4D-D1B7-512F1EC4B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291E5-3353-4B68-F2E0-003DB4229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68646-C6D3-B32C-D0F2-2715144DB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FB6-B139-4446-8C66-3CF6EABC52D6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B6ABC-E27E-77CF-91E8-D10E8DC7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408BD-01CF-9D41-49FF-21B98C74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5A66-D857-5549-B2A7-C84BEA12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817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D88-16D0-180C-0D04-E445F900C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AAAF7D-8858-3611-2236-EA7B39E9C9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9E2C50-5AF4-7B2C-3DDD-0C3DF5DF2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B7B39-E236-9F58-D1C8-D37544038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FB6-B139-4446-8C66-3CF6EABC52D6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C578A-FB55-B12F-8F1E-C2DE3648D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DC6E8-FF54-7659-5B94-742F8A50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5A66-D857-5549-B2A7-C84BEA12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33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78D25-0B19-A49D-A510-371D8B0C5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8A217-20CF-5BBC-2336-AE4F7BD77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2C12D-285C-D01D-BC98-19EB056D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FB6-B139-4446-8C66-3CF6EABC52D6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649A5-1717-BADA-C04A-ED175799F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E0EC6-FBAC-0440-FA74-BA8263867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5A66-D857-5549-B2A7-C84BEA12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81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70C2A3-8421-16D4-ED8E-2F42B433E0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5AC6D-CD11-78B3-D63C-E2C284328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FDC5C-DBF7-5B86-83AC-923772E38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79FB6-B139-4446-8C66-3CF6EABC52D6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90037-EE66-F12F-0BC0-6AC34121F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6A5B7-7AB0-5687-FFE9-FA1122BA3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5A66-D857-5549-B2A7-C84BEA12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0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687D76-5A94-57B6-67D7-C971F0BFA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BD19D-5CDA-3E32-EF2F-5081AD043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863A8-9AE2-65EA-9F6E-DAC284656A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79FB6-B139-4446-8C66-3CF6EABC52D6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2F9-D4FE-CE98-7768-B095C4EDD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4F514-D626-7AAF-BC87-F75D754925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C75A66-D857-5549-B2A7-C84BEA12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372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0DD90-C446-DB13-18E8-BAE49734E2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第六讲 </a:t>
            </a:r>
            <a:r>
              <a:rPr lang="en-US" altLang="zh-CN" sz="4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ParFlow</a:t>
            </a:r>
            <a:r>
              <a:rPr lang="zh-CN" altLang="en-US" sz="4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  <a:r>
              <a:rPr lang="en-US" altLang="zh-CN" sz="4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Solid</a:t>
            </a:r>
            <a:r>
              <a:rPr lang="zh-CN" altLang="en-US" sz="4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文件的构建</a:t>
            </a:r>
            <a:endParaRPr lang="en-US" sz="4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39864-BD2C-6375-541F-43683E048A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杨晨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中山大学大气科学学院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7540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48DD957D-E8CE-CEA3-9E55-CC3BFF40F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796" y="1529095"/>
            <a:ext cx="4756558" cy="3840480"/>
          </a:xfrm>
          <a:prstGeom prst="rect">
            <a:avLst/>
          </a:prstGeom>
        </p:spPr>
      </p:pic>
      <p:pic>
        <p:nvPicPr>
          <p:cNvPr id="5" name="Picture 4" descr="Image">
            <a:extLst>
              <a:ext uri="{FF2B5EF4-FFF2-40B4-BE49-F238E27FC236}">
                <a16:creationId xmlns:a16="http://schemas.microsoft.com/office/drawing/2014/main" id="{5B2F7FCD-E02D-AA86-2C79-7E7CD5EA9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075" y="1529095"/>
            <a:ext cx="4384487" cy="38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008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FF922F-0925-591A-9966-2FCD9CEABA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630"/>
          <a:stretch>
            <a:fillRect/>
          </a:stretch>
        </p:blipFill>
        <p:spPr>
          <a:xfrm>
            <a:off x="960002" y="1526959"/>
            <a:ext cx="4023360" cy="48430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333B8C-B647-FBC6-B8EF-6530E9F72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996" y="713882"/>
            <a:ext cx="2194560" cy="56560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C2FBB2-E52A-5161-7398-D64E5302FE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868"/>
          <a:stretch>
            <a:fillRect/>
          </a:stretch>
        </p:blipFill>
        <p:spPr>
          <a:xfrm>
            <a:off x="8866730" y="713882"/>
            <a:ext cx="1581917" cy="56692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CE0120-F173-3EDA-B53F-0D662CAEB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pfsol文件格式</a:t>
            </a:r>
            <a:endParaRPr 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CD70CE-EF2E-702E-042F-BC9CE2A88A02}"/>
              </a:ext>
            </a:extLst>
          </p:cNvPr>
          <p:cNvSpPr txBox="1"/>
          <p:nvPr/>
        </p:nvSpPr>
        <p:spPr>
          <a:xfrm>
            <a:off x="7020037" y="635714"/>
            <a:ext cx="941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>
                <a:solidFill>
                  <a:srgbClr val="FF0000"/>
                </a:solidFill>
              </a:rPr>
              <a:t>file_version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DA7655-D5F1-7D01-E83E-FC868C4E2A01}"/>
              </a:ext>
            </a:extLst>
          </p:cNvPr>
          <p:cNvSpPr txBox="1"/>
          <p:nvPr/>
        </p:nvSpPr>
        <p:spPr>
          <a:xfrm>
            <a:off x="7020037" y="886202"/>
            <a:ext cx="10824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>
                <a:solidFill>
                  <a:srgbClr val="FF0000"/>
                </a:solidFill>
              </a:rPr>
              <a:t>num_vertices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CD812F-96C1-F43B-F543-8DDF61D1E504}"/>
              </a:ext>
            </a:extLst>
          </p:cNvPr>
          <p:cNvSpPr txBox="1"/>
          <p:nvPr/>
        </p:nvSpPr>
        <p:spPr>
          <a:xfrm>
            <a:off x="7107004" y="3012182"/>
            <a:ext cx="9573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>
                <a:solidFill>
                  <a:srgbClr val="FF0000"/>
                </a:solidFill>
              </a:rPr>
              <a:t>num_solids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DAA480-A7FE-CB05-CEC7-62EF24ED64FA}"/>
              </a:ext>
            </a:extLst>
          </p:cNvPr>
          <p:cNvSpPr txBox="1"/>
          <p:nvPr/>
        </p:nvSpPr>
        <p:spPr>
          <a:xfrm>
            <a:off x="7105777" y="3248663"/>
            <a:ext cx="11352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>
                <a:solidFill>
                  <a:srgbClr val="FF0000"/>
                </a:solidFill>
              </a:rPr>
              <a:t>num_triangles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7782AD-37DC-5ED6-B8F0-74F8F8ABB8F6}"/>
              </a:ext>
            </a:extLst>
          </p:cNvPr>
          <p:cNvSpPr txBox="1"/>
          <p:nvPr/>
        </p:nvSpPr>
        <p:spPr>
          <a:xfrm>
            <a:off x="9572927" y="1489889"/>
            <a:ext cx="10962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>
                <a:solidFill>
                  <a:srgbClr val="FF0000"/>
                </a:solidFill>
              </a:rPr>
              <a:t>num_patches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00631C-2F23-06D8-CCC5-D9A0D4B9223A}"/>
              </a:ext>
            </a:extLst>
          </p:cNvPr>
          <p:cNvSpPr txBox="1"/>
          <p:nvPr/>
        </p:nvSpPr>
        <p:spPr>
          <a:xfrm>
            <a:off x="9572927" y="1762446"/>
            <a:ext cx="15867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>
                <a:solidFill>
                  <a:srgbClr val="FF0000"/>
                </a:solidFill>
              </a:rPr>
              <a:t>num_patch_triangles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9F6A37-ECC8-2F0E-E7A6-9D39C9014D92}"/>
              </a:ext>
            </a:extLst>
          </p:cNvPr>
          <p:cNvSpPr txBox="1"/>
          <p:nvPr/>
        </p:nvSpPr>
        <p:spPr>
          <a:xfrm>
            <a:off x="9572927" y="2520035"/>
            <a:ext cx="15867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>
                <a:solidFill>
                  <a:srgbClr val="FF0000"/>
                </a:solidFill>
              </a:rPr>
              <a:t>num_patch_triangles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53A354-7146-EBE8-BD18-E8F4CCF016AD}"/>
              </a:ext>
            </a:extLst>
          </p:cNvPr>
          <p:cNvSpPr txBox="1"/>
          <p:nvPr/>
        </p:nvSpPr>
        <p:spPr>
          <a:xfrm>
            <a:off x="9579655" y="3264924"/>
            <a:ext cx="15867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>
                <a:solidFill>
                  <a:srgbClr val="FF0000"/>
                </a:solidFill>
              </a:rPr>
              <a:t>num_patch_triangles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C8C311-8F53-6056-B1AA-9BE6603D8478}"/>
              </a:ext>
            </a:extLst>
          </p:cNvPr>
          <p:cNvSpPr txBox="1"/>
          <p:nvPr/>
        </p:nvSpPr>
        <p:spPr>
          <a:xfrm>
            <a:off x="9572927" y="4022513"/>
            <a:ext cx="15867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>
                <a:solidFill>
                  <a:srgbClr val="FF0000"/>
                </a:solidFill>
              </a:rPr>
              <a:t>num_patch_triangles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C0CC27-10F9-C9D0-B59F-23CD2DDE4FD8}"/>
              </a:ext>
            </a:extLst>
          </p:cNvPr>
          <p:cNvSpPr txBox="1"/>
          <p:nvPr/>
        </p:nvSpPr>
        <p:spPr>
          <a:xfrm>
            <a:off x="9568080" y="4785820"/>
            <a:ext cx="15867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>
                <a:solidFill>
                  <a:srgbClr val="FF0000"/>
                </a:solidFill>
              </a:rPr>
              <a:t>num_patch_triangles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585479-5775-F43F-1982-6882901B6610}"/>
              </a:ext>
            </a:extLst>
          </p:cNvPr>
          <p:cNvSpPr txBox="1"/>
          <p:nvPr/>
        </p:nvSpPr>
        <p:spPr>
          <a:xfrm>
            <a:off x="9579655" y="5584491"/>
            <a:ext cx="15867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>
                <a:solidFill>
                  <a:srgbClr val="FF0000"/>
                </a:solidFill>
              </a:rPr>
              <a:t>num_patch_triangles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BEC33E-1FEA-B6AF-2A9A-BEDC14375678}"/>
              </a:ext>
            </a:extLst>
          </p:cNvPr>
          <p:cNvSpPr txBox="1"/>
          <p:nvPr/>
        </p:nvSpPr>
        <p:spPr>
          <a:xfrm>
            <a:off x="1840375" y="6383162"/>
            <a:ext cx="1869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rgbClr val="0432FF"/>
                </a:solidFill>
              </a:rPr>
              <a:t>ParFlow</a:t>
            </a:r>
            <a:r>
              <a:rPr lang="zh-CN" altLang="en-US" b="1" dirty="0">
                <a:solidFill>
                  <a:srgbClr val="0432FF"/>
                </a:solidFill>
              </a:rPr>
              <a:t> </a:t>
            </a:r>
            <a:r>
              <a:rPr lang="en-US" altLang="zh-CN" b="1" dirty="0">
                <a:solidFill>
                  <a:srgbClr val="0432FF"/>
                </a:solidFill>
              </a:rPr>
              <a:t>manual</a:t>
            </a:r>
            <a:endParaRPr lang="en-US" b="1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656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FC0761-4FCA-8B34-7181-B5F3DE4C5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219" y="864960"/>
            <a:ext cx="4799796" cy="34912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6229F5-B6EB-38D1-2B7E-CD372D3CB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069" y="864960"/>
            <a:ext cx="4757241" cy="34912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9BEEB55-863A-DBCB-42A0-9382F994B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16" y="4712881"/>
            <a:ext cx="9966960" cy="12651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82E9F4-E269-F855-A18B-DA81EE934002}"/>
              </a:ext>
            </a:extLst>
          </p:cNvPr>
          <p:cNvSpPr txBox="1"/>
          <p:nvPr/>
        </p:nvSpPr>
        <p:spPr>
          <a:xfrm>
            <a:off x="2496821" y="495628"/>
            <a:ext cx="17856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432FF"/>
                </a:solidFill>
                <a:latin typeface="Century Gothic" panose="020B0502020202020204" pitchFamily="34" charset="0"/>
              </a:rPr>
              <a:t>没有patch</a:t>
            </a:r>
            <a:endParaRPr lang="en-US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DF2719-DCA5-61E7-652A-1D40BB0C0ED5}"/>
              </a:ext>
            </a:extLst>
          </p:cNvPr>
          <p:cNvSpPr txBox="1"/>
          <p:nvPr/>
        </p:nvSpPr>
        <p:spPr>
          <a:xfrm>
            <a:off x="7909560" y="495628"/>
            <a:ext cx="17856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432FF"/>
                </a:solidFill>
                <a:latin typeface="Century Gothic" panose="020B0502020202020204" pitchFamily="34" charset="0"/>
              </a:rPr>
              <a:t>有patch</a:t>
            </a:r>
            <a:endParaRPr lang="en-US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D1AC7A-C936-86B9-5926-D4097ED7D8A8}"/>
              </a:ext>
            </a:extLst>
          </p:cNvPr>
          <p:cNvSpPr txBox="1"/>
          <p:nvPr/>
        </p:nvSpPr>
        <p:spPr>
          <a:xfrm>
            <a:off x="4135226" y="3865790"/>
            <a:ext cx="17856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Paraview</a:t>
            </a:r>
            <a:endParaRPr lang="en-US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238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6A66D-69BA-17F7-BA5C-2F1FE02FD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ja-JP" altLang="en-US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为 </a:t>
            </a:r>
            <a:r>
              <a:rPr 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Sabino Canyon </a:t>
            </a:r>
            <a:r>
              <a:rPr lang="ja-JP" altLang="en-US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计算域构建实体</a:t>
            </a:r>
            <a:endParaRPr 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C93BD2-06BB-13EC-535A-FD31A9509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1974"/>
            <a:ext cx="10380086" cy="44815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03F5AA-2A95-0049-CE61-62FA3829F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035" y="4220394"/>
            <a:ext cx="2245008" cy="17347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975381-EBE6-8D3D-AE52-739868DA8AA3}"/>
              </a:ext>
            </a:extLst>
          </p:cNvPr>
          <p:cNvSpPr txBox="1"/>
          <p:nvPr/>
        </p:nvSpPr>
        <p:spPr>
          <a:xfrm>
            <a:off x="973714" y="1738288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Sabino_Basin_Bot.pfb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DD290F-0AFE-F2A0-3B95-57FF223F323A}"/>
              </a:ext>
            </a:extLst>
          </p:cNvPr>
          <p:cNvSpPr txBox="1"/>
          <p:nvPr/>
        </p:nvSpPr>
        <p:spPr>
          <a:xfrm>
            <a:off x="3481858" y="1738288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Sabino_Basin_Mask.pfb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5EAACF-2EB6-F7B3-E1FD-D357DBEDA07A}"/>
              </a:ext>
            </a:extLst>
          </p:cNvPr>
          <p:cNvSpPr txBox="1"/>
          <p:nvPr/>
        </p:nvSpPr>
        <p:spPr>
          <a:xfrm>
            <a:off x="6073217" y="1738288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Sabino_Dummy_Mask.pfb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F2AC81-4DA2-90A3-C62C-CD09649B2C75}"/>
              </a:ext>
            </a:extLst>
          </p:cNvPr>
          <p:cNvSpPr txBox="1"/>
          <p:nvPr/>
        </p:nvSpPr>
        <p:spPr>
          <a:xfrm>
            <a:off x="9041035" y="1738288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Sabino_Mask</a:t>
            </a:r>
            <a:r>
              <a:rPr lang="en-US" altLang="zh-CN" dirty="0" err="1">
                <a:solidFill>
                  <a:srgbClr val="FF0000"/>
                </a:solidFill>
              </a:rPr>
              <a:t>.pfb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01BEE7-6B5D-6A8A-CF96-11D50E3AC5F7}"/>
              </a:ext>
            </a:extLst>
          </p:cNvPr>
          <p:cNvSpPr txBox="1"/>
          <p:nvPr/>
        </p:nvSpPr>
        <p:spPr>
          <a:xfrm>
            <a:off x="1193446" y="4024372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Sabino_DEM.pfb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770B62-A32A-B60F-18F9-C02EBA09FB47}"/>
              </a:ext>
            </a:extLst>
          </p:cNvPr>
          <p:cNvSpPr txBox="1"/>
          <p:nvPr/>
        </p:nvSpPr>
        <p:spPr>
          <a:xfrm>
            <a:off x="3481858" y="4035728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Sabino_MBGeo_Bot.pfb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BC9E3C-42E6-F302-4488-AA484E0A28A1}"/>
              </a:ext>
            </a:extLst>
          </p:cNvPr>
          <p:cNvSpPr txBox="1"/>
          <p:nvPr/>
        </p:nvSpPr>
        <p:spPr>
          <a:xfrm>
            <a:off x="6125516" y="4013016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Sabino_MBGeo_Mask.pfb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5685DB-DF88-E26E-0650-A40CDE8D82E7}"/>
              </a:ext>
            </a:extLst>
          </p:cNvPr>
          <p:cNvSpPr txBox="1"/>
          <p:nvPr/>
        </p:nvSpPr>
        <p:spPr>
          <a:xfrm>
            <a:off x="3879130" y="6162551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432FF"/>
                </a:solidFill>
              </a:rPr>
              <a:t>../</a:t>
            </a:r>
            <a:r>
              <a:rPr lang="en-US" sz="2400" b="1" dirty="0" err="1">
                <a:solidFill>
                  <a:srgbClr val="0432FF"/>
                </a:solidFill>
              </a:rPr>
              <a:t>ReferenceFiles</a:t>
            </a:r>
            <a:r>
              <a:rPr lang="en-US" sz="2400" b="1" dirty="0">
                <a:solidFill>
                  <a:srgbClr val="0432FF"/>
                </a:solidFill>
              </a:rPr>
              <a:t>/Section5</a:t>
            </a:r>
          </a:p>
        </p:txBody>
      </p:sp>
    </p:spTree>
    <p:extLst>
      <p:ext uri="{BB962C8B-B14F-4D97-AF65-F5344CB8AC3E}">
        <p14:creationId xmlns:p14="http://schemas.microsoft.com/office/powerpoint/2010/main" val="3830400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9FF154-47F1-ADA7-5BF0-9592787C8D7E}"/>
              </a:ext>
            </a:extLst>
          </p:cNvPr>
          <p:cNvSpPr txBox="1"/>
          <p:nvPr/>
        </p:nvSpPr>
        <p:spPr>
          <a:xfrm>
            <a:off x="739140" y="623054"/>
            <a:ext cx="9029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3600" b="1" i="0" dirty="0" err="1">
                <a:solidFill>
                  <a:srgbClr val="1F2328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方案</a:t>
            </a:r>
            <a:r>
              <a:rPr lang="en-US" sz="3600" b="1" i="0" dirty="0">
                <a:solidFill>
                  <a:srgbClr val="1F2328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1—</a:t>
            </a:r>
            <a:r>
              <a:rPr lang="en-US" sz="3600" b="1" i="0" dirty="0" err="1">
                <a:solidFill>
                  <a:srgbClr val="1F2328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为</a:t>
            </a:r>
            <a:r>
              <a:rPr lang="en-US" sz="3600" b="1" i="0" dirty="0">
                <a:solidFill>
                  <a:srgbClr val="1F2328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TFG </a:t>
            </a:r>
            <a:r>
              <a:rPr lang="en-US" sz="3600" b="1" i="0" dirty="0" err="1">
                <a:solidFill>
                  <a:srgbClr val="1F2328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使用简单掩膜</a:t>
            </a:r>
            <a:endParaRPr lang="en-US" sz="3600" b="1" i="0" dirty="0">
              <a:solidFill>
                <a:srgbClr val="1F2328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F3B8D5-26B6-7EC7-96BA-812C395DE8A0}"/>
              </a:ext>
            </a:extLst>
          </p:cNvPr>
          <p:cNvSpPr txBox="1"/>
          <p:nvPr/>
        </p:nvSpPr>
        <p:spPr>
          <a:xfrm>
            <a:off x="4853942" y="212621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59636E"/>
                </a:solidFill>
                <a:effectLst/>
                <a:latin typeface="Century Gothic" panose="020B0502020202020204" pitchFamily="34" charset="0"/>
              </a:rPr>
              <a:t>$PARFLOW_DIR/bin/</a:t>
            </a:r>
            <a:r>
              <a:rPr lang="en-US" b="1" i="0" dirty="0" err="1">
                <a:solidFill>
                  <a:srgbClr val="0432FF"/>
                </a:solidFill>
                <a:effectLst/>
                <a:latin typeface="Century Gothic" panose="020B0502020202020204" pitchFamily="34" charset="0"/>
              </a:rPr>
              <a:t>pfmask</a:t>
            </a:r>
            <a:r>
              <a:rPr lang="en-US" b="1" i="0" dirty="0">
                <a:solidFill>
                  <a:srgbClr val="0432FF"/>
                </a:solidFill>
                <a:effectLst/>
                <a:latin typeface="Century Gothic" panose="020B0502020202020204" pitchFamily="34" charset="0"/>
              </a:rPr>
              <a:t>-to-</a:t>
            </a:r>
            <a:r>
              <a:rPr lang="en-US" b="1" i="0" dirty="0" err="1">
                <a:solidFill>
                  <a:srgbClr val="0432FF"/>
                </a:solidFill>
                <a:effectLst/>
                <a:latin typeface="Century Gothic" panose="020B0502020202020204" pitchFamily="34" charset="0"/>
              </a:rPr>
              <a:t>pfsol</a:t>
            </a:r>
            <a:r>
              <a:rPr lang="en-US" b="0" i="0" dirty="0">
                <a:solidFill>
                  <a:srgbClr val="59636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US" b="0" i="0" dirty="0">
                <a:solidFill>
                  <a:srgbClr val="FF0000"/>
                </a:solidFill>
                <a:effectLst/>
                <a:latin typeface="Century Gothic" panose="020B0502020202020204" pitchFamily="34" charset="0"/>
              </a:rPr>
              <a:t>--mask </a:t>
            </a:r>
            <a:r>
              <a:rPr lang="en-US" b="0" i="0" dirty="0" err="1">
                <a:solidFill>
                  <a:srgbClr val="59636E"/>
                </a:solidFill>
                <a:effectLst/>
                <a:latin typeface="Century Gothic" panose="020B0502020202020204" pitchFamily="34" charset="0"/>
              </a:rPr>
              <a:t>Sabino_Mask.pfb</a:t>
            </a:r>
            <a:r>
              <a:rPr lang="en-US" b="0" i="0" dirty="0">
                <a:solidFill>
                  <a:srgbClr val="59636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US" b="0" i="0" dirty="0">
                <a:solidFill>
                  <a:srgbClr val="FF0000"/>
                </a:solidFill>
                <a:effectLst/>
                <a:latin typeface="Century Gothic" panose="020B0502020202020204" pitchFamily="34" charset="0"/>
              </a:rPr>
              <a:t>--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entury Gothic" panose="020B0502020202020204" pitchFamily="34" charset="0"/>
              </a:rPr>
              <a:t>vtk</a:t>
            </a:r>
            <a:r>
              <a:rPr lang="en-US" b="0" i="0" dirty="0">
                <a:solidFill>
                  <a:srgbClr val="FF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US" b="0" i="0" dirty="0" err="1">
                <a:solidFill>
                  <a:srgbClr val="59636E"/>
                </a:solidFill>
                <a:effectLst/>
                <a:latin typeface="Century Gothic" panose="020B0502020202020204" pitchFamily="34" charset="0"/>
              </a:rPr>
              <a:t>sabino_masker.vtk</a:t>
            </a:r>
            <a:r>
              <a:rPr lang="en-US" b="0" i="0" dirty="0">
                <a:solidFill>
                  <a:srgbClr val="59636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US" b="0" i="0" dirty="0">
                <a:solidFill>
                  <a:srgbClr val="FF0000"/>
                </a:solidFill>
                <a:effectLst/>
                <a:latin typeface="Century Gothic" panose="020B0502020202020204" pitchFamily="34" charset="0"/>
              </a:rPr>
              <a:t>--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entury Gothic" panose="020B0502020202020204" pitchFamily="34" charset="0"/>
              </a:rPr>
              <a:t>pfsol</a:t>
            </a:r>
            <a:r>
              <a:rPr lang="en-US" b="0" i="0" dirty="0">
                <a:solidFill>
                  <a:srgbClr val="FF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US" b="0" i="0" dirty="0" err="1">
                <a:solidFill>
                  <a:srgbClr val="59636E"/>
                </a:solidFill>
                <a:effectLst/>
                <a:latin typeface="Century Gothic" panose="020B0502020202020204" pitchFamily="34" charset="0"/>
              </a:rPr>
              <a:t>sabino_masker.pfsol</a:t>
            </a:r>
            <a:r>
              <a:rPr lang="en-US" b="0" i="0" dirty="0">
                <a:solidFill>
                  <a:srgbClr val="59636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US" b="0" i="0" dirty="0">
                <a:solidFill>
                  <a:srgbClr val="FF0000"/>
                </a:solidFill>
                <a:effectLst/>
                <a:latin typeface="Century Gothic" panose="020B0502020202020204" pitchFamily="34" charset="0"/>
              </a:rPr>
              <a:t>--z-top </a:t>
            </a:r>
            <a:r>
              <a:rPr lang="en-US" b="0" i="0" dirty="0">
                <a:solidFill>
                  <a:srgbClr val="59636E"/>
                </a:solidFill>
                <a:effectLst/>
                <a:latin typeface="Century Gothic" panose="020B0502020202020204" pitchFamily="34" charset="0"/>
              </a:rPr>
              <a:t>500.0 </a:t>
            </a:r>
            <a:r>
              <a:rPr lang="en-US" b="0" i="0" dirty="0">
                <a:solidFill>
                  <a:srgbClr val="FF0000"/>
                </a:solidFill>
                <a:effectLst/>
                <a:latin typeface="Century Gothic" panose="020B0502020202020204" pitchFamily="34" charset="0"/>
              </a:rPr>
              <a:t>--z-bottom </a:t>
            </a:r>
            <a:r>
              <a:rPr lang="en-US" b="0" i="0" dirty="0">
                <a:solidFill>
                  <a:srgbClr val="59636E"/>
                </a:solidFill>
                <a:effectLst/>
                <a:latin typeface="Century Gothic" panose="020B0502020202020204" pitchFamily="34" charset="0"/>
              </a:rPr>
              <a:t>0.0</a:t>
            </a:r>
            <a:endParaRPr lang="en-US" sz="4000" dirty="0">
              <a:latin typeface="Century Gothic" panose="020B0502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892D58-A384-02E0-0237-CC20067FBF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465" t="10832" b="49552"/>
          <a:stretch>
            <a:fillRect/>
          </a:stretch>
        </p:blipFill>
        <p:spPr>
          <a:xfrm>
            <a:off x="1089660" y="1655699"/>
            <a:ext cx="3200400" cy="22311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7F3CA2-A5E7-8440-B316-64187C5CC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726" y="4166016"/>
            <a:ext cx="9418320" cy="181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109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7CD1A1-E290-9FB2-6585-8DFC8A235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160" y="458938"/>
            <a:ext cx="7772400" cy="57724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B742C9-E807-8B2D-4ABD-B258C8B708BC}"/>
              </a:ext>
            </a:extLst>
          </p:cNvPr>
          <p:cNvSpPr txBox="1"/>
          <p:nvPr/>
        </p:nvSpPr>
        <p:spPr>
          <a:xfrm>
            <a:off x="5462493" y="5085723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TFG</a:t>
            </a:r>
            <a:endParaRPr lang="en-US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6587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F7DAD1-4B90-8637-4F3B-0057D3B42E7D}"/>
              </a:ext>
            </a:extLst>
          </p:cNvPr>
          <p:cNvSpPr txBox="1"/>
          <p:nvPr/>
        </p:nvSpPr>
        <p:spPr>
          <a:xfrm>
            <a:off x="739140" y="623054"/>
            <a:ext cx="9029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ja-JP" altLang="en-US" sz="3600" b="1" i="0">
                <a:solidFill>
                  <a:srgbClr val="1F2328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方案 </a:t>
            </a:r>
            <a:r>
              <a:rPr lang="en-US" altLang="ja-JP" sz="3600" b="1" i="0" dirty="0">
                <a:solidFill>
                  <a:srgbClr val="1F2328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2—</a:t>
            </a:r>
            <a:r>
              <a:rPr lang="ja-JP" altLang="en-US" sz="3600" b="1" i="0">
                <a:solidFill>
                  <a:srgbClr val="1F2328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步骤更多但更灵活的方法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B47BF-F0D4-2D2B-B665-B9C1E4502748}"/>
              </a:ext>
            </a:extLst>
          </p:cNvPr>
          <p:cNvSpPr txBox="1"/>
          <p:nvPr/>
        </p:nvSpPr>
        <p:spPr>
          <a:xfrm>
            <a:off x="411480" y="4606003"/>
            <a:ext cx="65227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rgbClr val="59636E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r>
              <a:rPr lang="en-US" sz="1600" b="1" dirty="0">
                <a:solidFill>
                  <a:schemeClr val="tx1"/>
                </a:solidFill>
              </a:rPr>
              <a:t># ----- First we'll build the domain mask -----</a:t>
            </a:r>
          </a:p>
          <a:p>
            <a:r>
              <a:rPr lang="en-US" sz="1600" dirty="0">
                <a:solidFill>
                  <a:srgbClr val="FF0000"/>
                </a:solidFill>
              </a:rPr>
              <a:t>set DEM [</a:t>
            </a:r>
            <a:r>
              <a:rPr lang="en-US" sz="1600" dirty="0" err="1">
                <a:solidFill>
                  <a:srgbClr val="FF0000"/>
                </a:solidFill>
              </a:rPr>
              <a:t>pfload</a:t>
            </a:r>
            <a:r>
              <a:rPr lang="en-US" sz="1600" dirty="0">
                <a:solidFill>
                  <a:srgbClr val="FF0000"/>
                </a:solidFill>
              </a:rPr>
              <a:t> -</a:t>
            </a:r>
            <a:r>
              <a:rPr lang="en-US" sz="1600" dirty="0" err="1">
                <a:solidFill>
                  <a:srgbClr val="FF0000"/>
                </a:solidFill>
              </a:rPr>
              <a:t>pfb</a:t>
            </a:r>
            <a:r>
              <a:rPr lang="en-US" sz="1600" dirty="0">
                <a:solidFill>
                  <a:srgbClr val="FF0000"/>
                </a:solidFill>
              </a:rPr>
              <a:t> "</a:t>
            </a:r>
            <a:r>
              <a:rPr lang="en-US" sz="1600" dirty="0" err="1">
                <a:solidFill>
                  <a:srgbClr val="FF0000"/>
                </a:solidFill>
              </a:rPr>
              <a:t>Sabino_DEM.pfb</a:t>
            </a:r>
            <a:r>
              <a:rPr lang="en-US" sz="1600" dirty="0">
                <a:solidFill>
                  <a:srgbClr val="FF0000"/>
                </a:solidFill>
              </a:rPr>
              <a:t>"]</a:t>
            </a:r>
          </a:p>
          <a:p>
            <a:r>
              <a:rPr lang="en-US" sz="1600" dirty="0"/>
              <a:t>set Mask [</a:t>
            </a:r>
            <a:r>
              <a:rPr lang="en-US" sz="1600" dirty="0" err="1"/>
              <a:t>pfload</a:t>
            </a:r>
            <a:r>
              <a:rPr lang="en-US" sz="1600" dirty="0"/>
              <a:t> -</a:t>
            </a:r>
            <a:r>
              <a:rPr lang="en-US" sz="1600" dirty="0" err="1"/>
              <a:t>pfb</a:t>
            </a:r>
            <a:r>
              <a:rPr lang="en-US" sz="1600" dirty="0"/>
              <a:t> "</a:t>
            </a:r>
            <a:r>
              <a:rPr lang="en-US" sz="1600" dirty="0" err="1"/>
              <a:t>Sabino_Mask.pfb</a:t>
            </a:r>
            <a:r>
              <a:rPr lang="en-US" sz="1600" dirty="0"/>
              <a:t>"]</a:t>
            </a:r>
          </a:p>
          <a:p>
            <a:r>
              <a:rPr lang="en-US" sz="1600" dirty="0">
                <a:solidFill>
                  <a:srgbClr val="FF0000"/>
                </a:solidFill>
              </a:rPr>
              <a:t>set </a:t>
            </a:r>
            <a:r>
              <a:rPr lang="en-US" sz="1600" dirty="0" err="1">
                <a:solidFill>
                  <a:srgbClr val="FF0000"/>
                </a:solidFill>
              </a:rPr>
              <a:t>DMsk</a:t>
            </a:r>
            <a:r>
              <a:rPr lang="en-US" sz="1600" dirty="0">
                <a:solidFill>
                  <a:srgbClr val="FF0000"/>
                </a:solidFill>
              </a:rPr>
              <a:t> [</a:t>
            </a:r>
            <a:r>
              <a:rPr lang="en-US" sz="1600" dirty="0" err="1">
                <a:solidFill>
                  <a:srgbClr val="FF0000"/>
                </a:solidFill>
              </a:rPr>
              <a:t>pfload</a:t>
            </a:r>
            <a:r>
              <a:rPr lang="en-US" sz="1600" dirty="0">
                <a:solidFill>
                  <a:srgbClr val="FF0000"/>
                </a:solidFill>
              </a:rPr>
              <a:t> -</a:t>
            </a:r>
            <a:r>
              <a:rPr lang="en-US" sz="1600" dirty="0" err="1">
                <a:solidFill>
                  <a:srgbClr val="FF0000"/>
                </a:solidFill>
              </a:rPr>
              <a:t>pfb</a:t>
            </a:r>
            <a:r>
              <a:rPr lang="en-US" sz="1600" dirty="0">
                <a:solidFill>
                  <a:srgbClr val="FF0000"/>
                </a:solidFill>
              </a:rPr>
              <a:t> "</a:t>
            </a:r>
            <a:r>
              <a:rPr lang="en-US" sz="1600" dirty="0" err="1">
                <a:solidFill>
                  <a:srgbClr val="FF0000"/>
                </a:solidFill>
              </a:rPr>
              <a:t>Sabino_Dummy_Mask.pfb</a:t>
            </a:r>
            <a:r>
              <a:rPr lang="en-US" sz="1600" dirty="0">
                <a:solidFill>
                  <a:srgbClr val="FF0000"/>
                </a:solidFill>
              </a:rPr>
              <a:t>"]</a:t>
            </a:r>
          </a:p>
          <a:p>
            <a:r>
              <a:rPr lang="en-US" sz="1600" dirty="0"/>
              <a:t>set Bot [</a:t>
            </a:r>
            <a:r>
              <a:rPr lang="en-US" sz="1600" dirty="0" err="1"/>
              <a:t>pfcellsumconst</a:t>
            </a:r>
            <a:r>
              <a:rPr lang="en-US" sz="1600" dirty="0"/>
              <a:t> $DEM -500 $</a:t>
            </a:r>
            <a:r>
              <a:rPr lang="en-US" sz="1600" dirty="0" err="1"/>
              <a:t>DMsk</a:t>
            </a:r>
            <a:r>
              <a:rPr lang="en-US" sz="1600" dirty="0"/>
              <a:t>]</a:t>
            </a:r>
          </a:p>
          <a:p>
            <a:r>
              <a:rPr lang="en-US" sz="1600" b="1" dirty="0" err="1">
                <a:solidFill>
                  <a:schemeClr val="tx1"/>
                </a:solidFill>
              </a:rPr>
              <a:t>pfpatchysolid</a:t>
            </a:r>
            <a:r>
              <a:rPr lang="en-US" sz="1600" dirty="0">
                <a:solidFill>
                  <a:srgbClr val="FF0000"/>
                </a:solidFill>
              </a:rPr>
              <a:t> -top $DEM </a:t>
            </a:r>
            <a:r>
              <a:rPr lang="en-US" sz="1600" dirty="0">
                <a:solidFill>
                  <a:srgbClr val="0432FF"/>
                </a:solidFill>
              </a:rPr>
              <a:t>-bot $Bot </a:t>
            </a:r>
            <a:r>
              <a:rPr lang="en-US" sz="1600" dirty="0">
                <a:solidFill>
                  <a:srgbClr val="FF0000"/>
                </a:solidFill>
              </a:rPr>
              <a:t>-</a:t>
            </a:r>
            <a:r>
              <a:rPr lang="en-US" sz="1600" dirty="0" err="1">
                <a:solidFill>
                  <a:srgbClr val="FF0000"/>
                </a:solidFill>
              </a:rPr>
              <a:t>pfsol</a:t>
            </a:r>
            <a:r>
              <a:rPr lang="en-US" sz="1600" dirty="0">
                <a:solidFill>
                  <a:srgbClr val="FF0000"/>
                </a:solidFill>
              </a:rPr>
              <a:t> "</a:t>
            </a:r>
            <a:r>
              <a:rPr lang="en-US" sz="1600" dirty="0" err="1">
                <a:solidFill>
                  <a:srgbClr val="FF0000"/>
                </a:solidFill>
              </a:rPr>
              <a:t>sabino_mask_og.pfsol</a:t>
            </a:r>
            <a:r>
              <a:rPr lang="en-US" sz="1600" dirty="0">
                <a:solidFill>
                  <a:srgbClr val="FF0000"/>
                </a:solidFill>
              </a:rPr>
              <a:t>" </a:t>
            </a:r>
            <a:r>
              <a:rPr lang="en-US" sz="1600" dirty="0">
                <a:solidFill>
                  <a:srgbClr val="0432FF"/>
                </a:solidFill>
              </a:rPr>
              <a:t>-</a:t>
            </a:r>
            <a:r>
              <a:rPr lang="en-US" sz="1600" dirty="0" err="1">
                <a:solidFill>
                  <a:srgbClr val="0432FF"/>
                </a:solidFill>
              </a:rPr>
              <a:t>msk</a:t>
            </a:r>
            <a:r>
              <a:rPr lang="en-US" sz="1600" dirty="0">
                <a:solidFill>
                  <a:srgbClr val="0432FF"/>
                </a:solidFill>
              </a:rPr>
              <a:t> $Mask </a:t>
            </a:r>
            <a:r>
              <a:rPr lang="en-US" sz="1600" dirty="0">
                <a:solidFill>
                  <a:srgbClr val="FF0000"/>
                </a:solidFill>
              </a:rPr>
              <a:t>-</a:t>
            </a:r>
            <a:r>
              <a:rPr lang="en-US" sz="1600" dirty="0" err="1">
                <a:solidFill>
                  <a:srgbClr val="FF0000"/>
                </a:solidFill>
              </a:rPr>
              <a:t>vtk</a:t>
            </a:r>
            <a:r>
              <a:rPr lang="en-US" sz="1600" dirty="0">
                <a:solidFill>
                  <a:srgbClr val="FF0000"/>
                </a:solidFill>
              </a:rPr>
              <a:t> "</a:t>
            </a:r>
            <a:r>
              <a:rPr lang="en-US" sz="1600" dirty="0" err="1">
                <a:solidFill>
                  <a:srgbClr val="FF0000"/>
                </a:solidFill>
              </a:rPr>
              <a:t>sabino_mask_og.vtk</a:t>
            </a:r>
            <a:r>
              <a:rPr lang="en-US" sz="1600" dirty="0">
                <a:solidFill>
                  <a:srgbClr val="FF0000"/>
                </a:solidFill>
              </a:rPr>
              <a:t>"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05F588-0FEB-FB56-803A-D85D67D6E8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91"/>
          <a:stretch>
            <a:fillRect/>
          </a:stretch>
        </p:blipFill>
        <p:spPr>
          <a:xfrm>
            <a:off x="411480" y="1476702"/>
            <a:ext cx="6840750" cy="270862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8308C69-1E8A-53AF-0AED-B3AE94510627}"/>
              </a:ext>
            </a:extLst>
          </p:cNvPr>
          <p:cNvSpPr/>
          <p:nvPr/>
        </p:nvSpPr>
        <p:spPr>
          <a:xfrm>
            <a:off x="411480" y="3009900"/>
            <a:ext cx="1714500" cy="11754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F179E2-069B-7350-2171-A439D8797920}"/>
              </a:ext>
            </a:extLst>
          </p:cNvPr>
          <p:cNvSpPr/>
          <p:nvPr/>
        </p:nvSpPr>
        <p:spPr>
          <a:xfrm>
            <a:off x="5631180" y="1546860"/>
            <a:ext cx="1621050" cy="11754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1417AA-3D50-7C41-5321-7C88E265C719}"/>
              </a:ext>
            </a:extLst>
          </p:cNvPr>
          <p:cNvSpPr/>
          <p:nvPr/>
        </p:nvSpPr>
        <p:spPr>
          <a:xfrm>
            <a:off x="3924300" y="1546859"/>
            <a:ext cx="1621050" cy="11754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C89415-9D66-4728-9A99-5C7DAAA9B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680" y="1326828"/>
            <a:ext cx="3840480" cy="27724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DED06E-F4BC-F130-AC9B-E49FECFBA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680" y="4130994"/>
            <a:ext cx="3840480" cy="25717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2DDD7F-A76B-8760-2573-400A0A257B7E}"/>
              </a:ext>
            </a:extLst>
          </p:cNvPr>
          <p:cNvSpPr txBox="1"/>
          <p:nvPr/>
        </p:nvSpPr>
        <p:spPr>
          <a:xfrm>
            <a:off x="9415618" y="6234946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OG</a:t>
            </a:r>
            <a:endParaRPr lang="en-US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91DA8E-FFE8-1117-7111-0CD9B698ECE2}"/>
              </a:ext>
            </a:extLst>
          </p:cNvPr>
          <p:cNvSpPr txBox="1"/>
          <p:nvPr/>
        </p:nvSpPr>
        <p:spPr>
          <a:xfrm>
            <a:off x="9415619" y="3539018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OG</a:t>
            </a:r>
            <a:endParaRPr lang="en-US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6856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6229EE-DE51-C768-DA76-7DC54B2396A5}"/>
              </a:ext>
            </a:extLst>
          </p:cNvPr>
          <p:cNvSpPr txBox="1"/>
          <p:nvPr/>
        </p:nvSpPr>
        <p:spPr>
          <a:xfrm>
            <a:off x="1067116" y="2342836"/>
            <a:ext cx="64846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0" i="0">
                <a:solidFill>
                  <a:srgbClr val="59636E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r>
              <a:rPr lang="en-US" sz="2000" b="1" dirty="0">
                <a:solidFill>
                  <a:schemeClr val="tx1"/>
                </a:solidFill>
              </a:rPr>
              <a:t># Now transform it to be a TFG solid</a:t>
            </a:r>
          </a:p>
          <a:p>
            <a:r>
              <a:rPr lang="en-US" sz="2000" dirty="0">
                <a:solidFill>
                  <a:srgbClr val="FF0000"/>
                </a:solidFill>
              </a:rPr>
              <a:t>set Top [</a:t>
            </a:r>
            <a:r>
              <a:rPr lang="en-US" sz="2000" dirty="0" err="1">
                <a:solidFill>
                  <a:srgbClr val="FF0000"/>
                </a:solidFill>
              </a:rPr>
              <a:t>pfcelldiff</a:t>
            </a:r>
            <a:r>
              <a:rPr lang="en-US" sz="2000" dirty="0">
                <a:solidFill>
                  <a:srgbClr val="FF0000"/>
                </a:solidFill>
              </a:rPr>
              <a:t> $DEM $DEM $</a:t>
            </a:r>
            <a:r>
              <a:rPr lang="en-US" sz="2000" dirty="0" err="1">
                <a:solidFill>
                  <a:srgbClr val="FF0000"/>
                </a:solidFill>
              </a:rPr>
              <a:t>DMsk</a:t>
            </a:r>
            <a:r>
              <a:rPr lang="en-US" sz="2000" dirty="0">
                <a:solidFill>
                  <a:srgbClr val="FF0000"/>
                </a:solidFill>
              </a:rPr>
              <a:t>] </a:t>
            </a:r>
          </a:p>
          <a:p>
            <a:r>
              <a:rPr lang="en-US" sz="2000" dirty="0"/>
              <a:t>set Bot [</a:t>
            </a:r>
            <a:r>
              <a:rPr lang="en-US" sz="2000" dirty="0" err="1"/>
              <a:t>pfcelldiff</a:t>
            </a:r>
            <a:r>
              <a:rPr lang="en-US" sz="2000" dirty="0"/>
              <a:t> $Bot $DEM $</a:t>
            </a:r>
            <a:r>
              <a:rPr lang="en-US" sz="2000" dirty="0" err="1"/>
              <a:t>DMsk</a:t>
            </a:r>
            <a:r>
              <a:rPr lang="en-US" sz="2000" dirty="0"/>
              <a:t>]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set Top [</a:t>
            </a:r>
            <a:r>
              <a:rPr lang="en-US" sz="2000" dirty="0" err="1">
                <a:solidFill>
                  <a:srgbClr val="FF0000"/>
                </a:solidFill>
              </a:rPr>
              <a:t>pfcellsumconst</a:t>
            </a:r>
            <a:r>
              <a:rPr lang="en-US" sz="2000" dirty="0">
                <a:solidFill>
                  <a:srgbClr val="FF0000"/>
                </a:solidFill>
              </a:rPr>
              <a:t> $Top 500 $</a:t>
            </a:r>
            <a:r>
              <a:rPr lang="en-US" sz="2000" dirty="0" err="1">
                <a:solidFill>
                  <a:srgbClr val="FF0000"/>
                </a:solidFill>
              </a:rPr>
              <a:t>DMsk</a:t>
            </a:r>
            <a:r>
              <a:rPr lang="en-US" sz="2000" dirty="0">
                <a:solidFill>
                  <a:srgbClr val="FF0000"/>
                </a:solidFill>
              </a:rPr>
              <a:t>]</a:t>
            </a:r>
          </a:p>
          <a:p>
            <a:r>
              <a:rPr lang="en-US" sz="2000" dirty="0"/>
              <a:t>set Bot [</a:t>
            </a:r>
            <a:r>
              <a:rPr lang="en-US" sz="2000" dirty="0" err="1"/>
              <a:t>pfcellsumconst</a:t>
            </a:r>
            <a:r>
              <a:rPr lang="en-US" sz="2000" dirty="0"/>
              <a:t> $Bot 500 $</a:t>
            </a:r>
            <a:r>
              <a:rPr lang="en-US" sz="2000" dirty="0" err="1"/>
              <a:t>DMsk</a:t>
            </a:r>
            <a:r>
              <a:rPr lang="en-US" sz="2000" dirty="0"/>
              <a:t>]</a:t>
            </a:r>
          </a:p>
          <a:p>
            <a:r>
              <a:rPr lang="en-US" sz="2000" b="1" dirty="0" err="1"/>
              <a:t>pfpatchysolid</a:t>
            </a:r>
            <a:r>
              <a:rPr lang="en-US" sz="2000" dirty="0"/>
              <a:t> -top $Top </a:t>
            </a:r>
            <a:r>
              <a:rPr lang="en-US" sz="2000" dirty="0">
                <a:solidFill>
                  <a:srgbClr val="0432FF"/>
                </a:solidFill>
              </a:rPr>
              <a:t>-bot $Bot </a:t>
            </a:r>
            <a:r>
              <a:rPr lang="en-US" sz="2000" dirty="0"/>
              <a:t>-</a:t>
            </a:r>
            <a:r>
              <a:rPr lang="en-US" sz="2000" dirty="0" err="1"/>
              <a:t>pfsol</a:t>
            </a:r>
            <a:r>
              <a:rPr lang="en-US" sz="2000" dirty="0"/>
              <a:t> "</a:t>
            </a:r>
            <a:r>
              <a:rPr lang="en-US" sz="2000" dirty="0" err="1"/>
              <a:t>sabino_mask_tfg.pfsol</a:t>
            </a:r>
            <a:r>
              <a:rPr lang="en-US" sz="2000" dirty="0"/>
              <a:t>" </a:t>
            </a:r>
            <a:r>
              <a:rPr lang="en-US" sz="2000" dirty="0">
                <a:solidFill>
                  <a:srgbClr val="0432FF"/>
                </a:solidFill>
              </a:rPr>
              <a:t>-</a:t>
            </a:r>
            <a:r>
              <a:rPr lang="en-US" sz="2000" dirty="0" err="1">
                <a:solidFill>
                  <a:srgbClr val="0432FF"/>
                </a:solidFill>
              </a:rPr>
              <a:t>msk</a:t>
            </a:r>
            <a:r>
              <a:rPr lang="en-US" sz="2000" dirty="0">
                <a:solidFill>
                  <a:srgbClr val="0432FF"/>
                </a:solidFill>
              </a:rPr>
              <a:t> $Mask </a:t>
            </a:r>
            <a:r>
              <a:rPr lang="en-US" sz="2000" dirty="0"/>
              <a:t>-</a:t>
            </a:r>
            <a:r>
              <a:rPr lang="en-US" sz="2000" dirty="0" err="1"/>
              <a:t>vtk</a:t>
            </a:r>
            <a:r>
              <a:rPr lang="en-US" sz="2000" dirty="0"/>
              <a:t> "</a:t>
            </a:r>
            <a:r>
              <a:rPr lang="en-US" sz="2000" dirty="0" err="1"/>
              <a:t>sabino_mask_tfg.vtk</a:t>
            </a:r>
            <a:r>
              <a:rPr lang="en-US" sz="2000" dirty="0"/>
              <a:t>"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85199F-46AC-19E0-ADA5-60DDB4ECF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260" y="1096075"/>
            <a:ext cx="4196760" cy="27086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588386-1803-EEFE-8CBF-1B1A88F43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260" y="3864102"/>
            <a:ext cx="4196760" cy="28646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CCDFE1-B4F9-8715-AA62-BF7145E2DA55}"/>
              </a:ext>
            </a:extLst>
          </p:cNvPr>
          <p:cNvSpPr txBox="1"/>
          <p:nvPr/>
        </p:nvSpPr>
        <p:spPr>
          <a:xfrm>
            <a:off x="9997440" y="208788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TFG</a:t>
            </a:r>
            <a:endParaRPr lang="en-US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ADFEF7-441A-C95E-D6EE-7FA5CCF5D21A}"/>
              </a:ext>
            </a:extLst>
          </p:cNvPr>
          <p:cNvSpPr txBox="1"/>
          <p:nvPr/>
        </p:nvSpPr>
        <p:spPr>
          <a:xfrm>
            <a:off x="9952767" y="511174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TFG</a:t>
            </a:r>
            <a:endParaRPr lang="en-US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DF8DC6-5D34-27F9-A4F6-2764AC09A961}"/>
              </a:ext>
            </a:extLst>
          </p:cNvPr>
          <p:cNvSpPr txBox="1"/>
          <p:nvPr/>
        </p:nvSpPr>
        <p:spPr>
          <a:xfrm>
            <a:off x="9997440" y="4528049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OG</a:t>
            </a:r>
            <a:endParaRPr lang="en-US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0202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062BC3-95B2-999A-C7BE-33E472EEC44A}"/>
              </a:ext>
            </a:extLst>
          </p:cNvPr>
          <p:cNvSpPr txBox="1"/>
          <p:nvPr/>
        </p:nvSpPr>
        <p:spPr>
          <a:xfrm>
            <a:off x="434340" y="3556666"/>
            <a:ext cx="59131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0" i="0">
                <a:solidFill>
                  <a:srgbClr val="59636E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r>
              <a:rPr lang="en-US" b="1" dirty="0">
                <a:solidFill>
                  <a:schemeClr val="tx1"/>
                </a:solidFill>
              </a:rPr>
              <a:t># ----- Now we'll build the Basin fill region -----</a:t>
            </a:r>
          </a:p>
          <a:p>
            <a:r>
              <a:rPr lang="en-US" dirty="0">
                <a:solidFill>
                  <a:srgbClr val="0432FF"/>
                </a:solidFill>
              </a:rPr>
              <a:t>set </a:t>
            </a:r>
            <a:r>
              <a:rPr lang="en-US" dirty="0" err="1">
                <a:solidFill>
                  <a:srgbClr val="0432FF"/>
                </a:solidFill>
              </a:rPr>
              <a:t>Msk</a:t>
            </a:r>
            <a:r>
              <a:rPr lang="en-US" dirty="0">
                <a:solidFill>
                  <a:srgbClr val="0432FF"/>
                </a:solidFill>
              </a:rPr>
              <a:t> [</a:t>
            </a:r>
            <a:r>
              <a:rPr lang="en-US" dirty="0" err="1">
                <a:solidFill>
                  <a:srgbClr val="0432FF"/>
                </a:solidFill>
              </a:rPr>
              <a:t>pfload</a:t>
            </a:r>
            <a:r>
              <a:rPr lang="en-US" dirty="0">
                <a:solidFill>
                  <a:srgbClr val="0432FF"/>
                </a:solidFill>
              </a:rPr>
              <a:t> -</a:t>
            </a:r>
            <a:r>
              <a:rPr lang="en-US" dirty="0" err="1">
                <a:solidFill>
                  <a:srgbClr val="0432FF"/>
                </a:solidFill>
              </a:rPr>
              <a:t>pfb</a:t>
            </a:r>
            <a:r>
              <a:rPr lang="en-US" dirty="0">
                <a:solidFill>
                  <a:srgbClr val="0432FF"/>
                </a:solidFill>
              </a:rPr>
              <a:t> "</a:t>
            </a:r>
            <a:r>
              <a:rPr lang="en-US" dirty="0" err="1">
                <a:solidFill>
                  <a:srgbClr val="0432FF"/>
                </a:solidFill>
              </a:rPr>
              <a:t>Sabino_Basin_Mask.pfb</a:t>
            </a:r>
            <a:r>
              <a:rPr lang="en-US" dirty="0">
                <a:solidFill>
                  <a:srgbClr val="0432FF"/>
                </a:solidFill>
              </a:rPr>
              <a:t>"]</a:t>
            </a:r>
          </a:p>
          <a:p>
            <a:r>
              <a:rPr lang="en-US" dirty="0"/>
              <a:t>set Bot [</a:t>
            </a:r>
            <a:r>
              <a:rPr lang="en-US" dirty="0" err="1"/>
              <a:t>pfload</a:t>
            </a:r>
            <a:r>
              <a:rPr lang="en-US" dirty="0"/>
              <a:t> -</a:t>
            </a:r>
            <a:r>
              <a:rPr lang="en-US" dirty="0" err="1"/>
              <a:t>pfb</a:t>
            </a:r>
            <a:r>
              <a:rPr lang="en-US" dirty="0"/>
              <a:t> "</a:t>
            </a:r>
            <a:r>
              <a:rPr lang="en-US" dirty="0" err="1"/>
              <a:t>Sabino_Basin_Bot.pfb</a:t>
            </a:r>
            <a:r>
              <a:rPr lang="en-US" dirty="0"/>
              <a:t>"]</a:t>
            </a:r>
          </a:p>
          <a:p>
            <a:r>
              <a:rPr lang="en-US" b="1" dirty="0" err="1"/>
              <a:t>pfpatchysolid</a:t>
            </a:r>
            <a:r>
              <a:rPr lang="en-US" dirty="0"/>
              <a:t> -top $DEM </a:t>
            </a:r>
            <a:r>
              <a:rPr lang="en-US" dirty="0">
                <a:solidFill>
                  <a:srgbClr val="FF0000"/>
                </a:solidFill>
              </a:rPr>
              <a:t>-bot $Bot </a:t>
            </a:r>
            <a:r>
              <a:rPr lang="en-US" dirty="0"/>
              <a:t>-</a:t>
            </a:r>
            <a:r>
              <a:rPr lang="en-US" dirty="0" err="1"/>
              <a:t>pfsol</a:t>
            </a:r>
            <a:r>
              <a:rPr lang="en-US" dirty="0"/>
              <a:t> "</a:t>
            </a:r>
            <a:r>
              <a:rPr lang="en-US" dirty="0" err="1"/>
              <a:t>basin_OG.pfsol</a:t>
            </a:r>
            <a:r>
              <a:rPr lang="en-US" dirty="0"/>
              <a:t>" -</a:t>
            </a:r>
            <a:r>
              <a:rPr lang="en-US" dirty="0" err="1"/>
              <a:t>msk</a:t>
            </a:r>
            <a:r>
              <a:rPr lang="en-US" dirty="0"/>
              <a:t> $</a:t>
            </a:r>
            <a:r>
              <a:rPr lang="en-US" dirty="0" err="1"/>
              <a:t>Msk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 err="1">
                <a:solidFill>
                  <a:srgbClr val="FF0000"/>
                </a:solidFill>
              </a:rPr>
              <a:t>vtk</a:t>
            </a:r>
            <a:r>
              <a:rPr lang="en-US" dirty="0">
                <a:solidFill>
                  <a:srgbClr val="FF0000"/>
                </a:solidFill>
              </a:rPr>
              <a:t> "</a:t>
            </a:r>
            <a:r>
              <a:rPr lang="en-US" dirty="0" err="1">
                <a:solidFill>
                  <a:srgbClr val="FF0000"/>
                </a:solidFill>
              </a:rPr>
              <a:t>basin_OG.vtk</a:t>
            </a:r>
            <a:r>
              <a:rPr lang="en-US" dirty="0">
                <a:solidFill>
                  <a:srgbClr val="FF0000"/>
                </a:solidFill>
              </a:rPr>
              <a:t>" </a:t>
            </a:r>
          </a:p>
          <a:p>
            <a:endParaRPr lang="en-US" dirty="0"/>
          </a:p>
          <a:p>
            <a:r>
              <a:rPr lang="en-US" dirty="0"/>
              <a:t>set </a:t>
            </a:r>
            <a:r>
              <a:rPr lang="en-US" dirty="0" err="1"/>
              <a:t>TFGtop</a:t>
            </a:r>
            <a:r>
              <a:rPr lang="en-US" dirty="0"/>
              <a:t> [</a:t>
            </a:r>
            <a:r>
              <a:rPr lang="en-US" dirty="0" err="1"/>
              <a:t>pfcelldiff</a:t>
            </a:r>
            <a:r>
              <a:rPr lang="en-US" dirty="0"/>
              <a:t> $DEM $DEM $</a:t>
            </a:r>
            <a:r>
              <a:rPr lang="en-US" dirty="0" err="1"/>
              <a:t>DMsk</a:t>
            </a:r>
            <a:r>
              <a:rPr lang="en-US" dirty="0"/>
              <a:t>]</a:t>
            </a:r>
          </a:p>
          <a:p>
            <a:r>
              <a:rPr lang="en-US" dirty="0">
                <a:solidFill>
                  <a:srgbClr val="0432FF"/>
                </a:solidFill>
              </a:rPr>
              <a:t>set </a:t>
            </a:r>
            <a:r>
              <a:rPr lang="en-US" dirty="0" err="1">
                <a:solidFill>
                  <a:srgbClr val="0432FF"/>
                </a:solidFill>
              </a:rPr>
              <a:t>TFGbot</a:t>
            </a:r>
            <a:r>
              <a:rPr lang="en-US" dirty="0">
                <a:solidFill>
                  <a:srgbClr val="0432FF"/>
                </a:solidFill>
              </a:rPr>
              <a:t> [</a:t>
            </a:r>
            <a:r>
              <a:rPr lang="en-US" dirty="0" err="1">
                <a:solidFill>
                  <a:srgbClr val="0432FF"/>
                </a:solidFill>
              </a:rPr>
              <a:t>pfcelldiff</a:t>
            </a:r>
            <a:r>
              <a:rPr lang="en-US" dirty="0">
                <a:solidFill>
                  <a:srgbClr val="0432FF"/>
                </a:solidFill>
              </a:rPr>
              <a:t> $Bot $DEM $</a:t>
            </a:r>
            <a:r>
              <a:rPr lang="en-US" dirty="0" err="1">
                <a:solidFill>
                  <a:srgbClr val="0432FF"/>
                </a:solidFill>
              </a:rPr>
              <a:t>DMsk</a:t>
            </a:r>
            <a:r>
              <a:rPr lang="en-US" dirty="0">
                <a:solidFill>
                  <a:srgbClr val="0432FF"/>
                </a:solidFill>
              </a:rPr>
              <a:t>]</a:t>
            </a:r>
          </a:p>
          <a:p>
            <a:r>
              <a:rPr lang="en-US" dirty="0"/>
              <a:t>set </a:t>
            </a:r>
            <a:r>
              <a:rPr lang="en-US" dirty="0" err="1"/>
              <a:t>TFGtop</a:t>
            </a:r>
            <a:r>
              <a:rPr lang="en-US" dirty="0"/>
              <a:t> [</a:t>
            </a:r>
            <a:r>
              <a:rPr lang="en-US" dirty="0" err="1"/>
              <a:t>pfcellsumconst</a:t>
            </a:r>
            <a:r>
              <a:rPr lang="en-US" dirty="0"/>
              <a:t> $</a:t>
            </a:r>
            <a:r>
              <a:rPr lang="en-US" dirty="0" err="1"/>
              <a:t>TFGtop</a:t>
            </a:r>
            <a:r>
              <a:rPr lang="en-US" dirty="0"/>
              <a:t> 500 $</a:t>
            </a:r>
            <a:r>
              <a:rPr lang="en-US" dirty="0" err="1"/>
              <a:t>DMsk</a:t>
            </a:r>
            <a:r>
              <a:rPr lang="en-US" dirty="0"/>
              <a:t>]</a:t>
            </a:r>
          </a:p>
          <a:p>
            <a:r>
              <a:rPr lang="en-US" dirty="0">
                <a:solidFill>
                  <a:srgbClr val="0432FF"/>
                </a:solidFill>
              </a:rPr>
              <a:t>set </a:t>
            </a:r>
            <a:r>
              <a:rPr lang="en-US" dirty="0" err="1">
                <a:solidFill>
                  <a:srgbClr val="0432FF"/>
                </a:solidFill>
              </a:rPr>
              <a:t>TFGbot</a:t>
            </a:r>
            <a:r>
              <a:rPr lang="en-US" dirty="0">
                <a:solidFill>
                  <a:srgbClr val="0432FF"/>
                </a:solidFill>
              </a:rPr>
              <a:t> [</a:t>
            </a:r>
            <a:r>
              <a:rPr lang="en-US" dirty="0" err="1">
                <a:solidFill>
                  <a:srgbClr val="0432FF"/>
                </a:solidFill>
              </a:rPr>
              <a:t>pfcellsumconst</a:t>
            </a:r>
            <a:r>
              <a:rPr lang="en-US" dirty="0">
                <a:solidFill>
                  <a:srgbClr val="0432FF"/>
                </a:solidFill>
              </a:rPr>
              <a:t> $</a:t>
            </a:r>
            <a:r>
              <a:rPr lang="en-US" dirty="0" err="1">
                <a:solidFill>
                  <a:srgbClr val="0432FF"/>
                </a:solidFill>
              </a:rPr>
              <a:t>TFGbot</a:t>
            </a:r>
            <a:r>
              <a:rPr lang="en-US" dirty="0">
                <a:solidFill>
                  <a:srgbClr val="0432FF"/>
                </a:solidFill>
              </a:rPr>
              <a:t> 500 $</a:t>
            </a:r>
            <a:r>
              <a:rPr lang="en-US" dirty="0" err="1">
                <a:solidFill>
                  <a:srgbClr val="0432FF"/>
                </a:solidFill>
              </a:rPr>
              <a:t>DMsk</a:t>
            </a:r>
            <a:r>
              <a:rPr lang="en-US" dirty="0">
                <a:solidFill>
                  <a:srgbClr val="0432FF"/>
                </a:solidFill>
              </a:rPr>
              <a:t>]</a:t>
            </a:r>
          </a:p>
          <a:p>
            <a:r>
              <a:rPr lang="en-US" b="1" dirty="0" err="1"/>
              <a:t>pfpatchysolid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-top $</a:t>
            </a:r>
            <a:r>
              <a:rPr lang="en-US" dirty="0" err="1">
                <a:solidFill>
                  <a:srgbClr val="FF0000"/>
                </a:solidFill>
              </a:rPr>
              <a:t>TFGtop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-bot $</a:t>
            </a:r>
            <a:r>
              <a:rPr lang="en-US" dirty="0" err="1"/>
              <a:t>TFGbot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 err="1">
                <a:solidFill>
                  <a:srgbClr val="FF0000"/>
                </a:solidFill>
              </a:rPr>
              <a:t>pfsol</a:t>
            </a:r>
            <a:r>
              <a:rPr lang="en-US" dirty="0">
                <a:solidFill>
                  <a:srgbClr val="FF0000"/>
                </a:solidFill>
              </a:rPr>
              <a:t> "</a:t>
            </a:r>
            <a:r>
              <a:rPr lang="en-US" dirty="0" err="1">
                <a:solidFill>
                  <a:srgbClr val="FF0000"/>
                </a:solidFill>
              </a:rPr>
              <a:t>basin_TFG.pfsol</a:t>
            </a:r>
            <a:r>
              <a:rPr lang="en-US" dirty="0">
                <a:solidFill>
                  <a:srgbClr val="FF0000"/>
                </a:solidFill>
              </a:rPr>
              <a:t>"</a:t>
            </a:r>
            <a:r>
              <a:rPr lang="en-US" dirty="0"/>
              <a:t> -</a:t>
            </a:r>
            <a:r>
              <a:rPr lang="en-US" dirty="0" err="1"/>
              <a:t>msk</a:t>
            </a:r>
            <a:r>
              <a:rPr lang="en-US" dirty="0"/>
              <a:t> $</a:t>
            </a:r>
            <a:r>
              <a:rPr lang="en-US" dirty="0" err="1"/>
              <a:t>Msk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 err="1">
                <a:solidFill>
                  <a:srgbClr val="FF0000"/>
                </a:solidFill>
              </a:rPr>
              <a:t>vtk</a:t>
            </a:r>
            <a:r>
              <a:rPr lang="en-US" dirty="0">
                <a:solidFill>
                  <a:srgbClr val="FF0000"/>
                </a:solidFill>
              </a:rPr>
              <a:t> "</a:t>
            </a:r>
            <a:r>
              <a:rPr lang="en-US" dirty="0" err="1">
                <a:solidFill>
                  <a:srgbClr val="FF0000"/>
                </a:solidFill>
              </a:rPr>
              <a:t>basin_TFG.vtk</a:t>
            </a:r>
            <a:r>
              <a:rPr lang="en-US" dirty="0">
                <a:solidFill>
                  <a:srgbClr val="FF0000"/>
                </a:solidFill>
              </a:rPr>
              <a:t>"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ECCBE6-EF10-29D3-408F-F4B8137179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91"/>
          <a:stretch>
            <a:fillRect/>
          </a:stretch>
        </p:blipFill>
        <p:spPr>
          <a:xfrm>
            <a:off x="350520" y="592711"/>
            <a:ext cx="6840750" cy="270862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21DCBEF-1C51-000F-2060-7D18B36CD4D6}"/>
              </a:ext>
            </a:extLst>
          </p:cNvPr>
          <p:cNvSpPr/>
          <p:nvPr/>
        </p:nvSpPr>
        <p:spPr>
          <a:xfrm>
            <a:off x="2149845" y="647699"/>
            <a:ext cx="1621050" cy="11754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03C727-5267-4A6F-9D87-5161E83E72D2}"/>
              </a:ext>
            </a:extLst>
          </p:cNvPr>
          <p:cNvSpPr/>
          <p:nvPr/>
        </p:nvSpPr>
        <p:spPr>
          <a:xfrm>
            <a:off x="414495" y="647699"/>
            <a:ext cx="1621050" cy="11754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42917C-A305-0264-651F-9F8569F48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8830" y="843038"/>
            <a:ext cx="2477625" cy="25859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47F900-9904-42EB-88E3-002B7B8D9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647" y="3957320"/>
            <a:ext cx="2955993" cy="2374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1A9F9C-152A-ADDA-4AF0-541411C551A6}"/>
              </a:ext>
            </a:extLst>
          </p:cNvPr>
          <p:cNvSpPr txBox="1"/>
          <p:nvPr/>
        </p:nvSpPr>
        <p:spPr>
          <a:xfrm>
            <a:off x="9220200" y="2363969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OG</a:t>
            </a:r>
            <a:endParaRPr lang="en-US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4EAFF5-966C-8475-AC3C-9454908364F2}"/>
              </a:ext>
            </a:extLst>
          </p:cNvPr>
          <p:cNvSpPr txBox="1"/>
          <p:nvPr/>
        </p:nvSpPr>
        <p:spPr>
          <a:xfrm>
            <a:off x="9136380" y="477543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TFG</a:t>
            </a:r>
            <a:endParaRPr lang="en-US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6338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C2904B-79E4-7D1D-45BB-3DC7B760AE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91"/>
          <a:stretch>
            <a:fillRect/>
          </a:stretch>
        </p:blipFill>
        <p:spPr>
          <a:xfrm>
            <a:off x="350520" y="592711"/>
            <a:ext cx="6840750" cy="2708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24097D9-9828-EBB6-1801-AB53CF1AE6B7}"/>
              </a:ext>
            </a:extLst>
          </p:cNvPr>
          <p:cNvSpPr/>
          <p:nvPr/>
        </p:nvSpPr>
        <p:spPr>
          <a:xfrm>
            <a:off x="2081264" y="2125909"/>
            <a:ext cx="3405135" cy="11754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EBD1C6-37C2-55BD-2918-7DE1DF8C61F6}"/>
              </a:ext>
            </a:extLst>
          </p:cNvPr>
          <p:cNvSpPr txBox="1"/>
          <p:nvPr/>
        </p:nvSpPr>
        <p:spPr>
          <a:xfrm>
            <a:off x="472440" y="3556667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0" i="0">
                <a:solidFill>
                  <a:srgbClr val="59636E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r>
              <a:rPr lang="en-US" b="1" dirty="0">
                <a:solidFill>
                  <a:schemeClr val="tx1"/>
                </a:solidFill>
              </a:rPr>
              <a:t># ----- And now the mountain block region -----</a:t>
            </a:r>
          </a:p>
          <a:p>
            <a:r>
              <a:rPr lang="en-US" dirty="0"/>
              <a:t>set </a:t>
            </a:r>
            <a:r>
              <a:rPr lang="en-US" dirty="0" err="1"/>
              <a:t>Msk</a:t>
            </a:r>
            <a:r>
              <a:rPr lang="en-US" dirty="0"/>
              <a:t> [</a:t>
            </a:r>
            <a:r>
              <a:rPr lang="en-US" dirty="0" err="1"/>
              <a:t>pfload</a:t>
            </a:r>
            <a:r>
              <a:rPr lang="en-US" dirty="0"/>
              <a:t> -</a:t>
            </a:r>
            <a:r>
              <a:rPr lang="en-US" dirty="0" err="1"/>
              <a:t>pfb</a:t>
            </a:r>
            <a:r>
              <a:rPr lang="en-US" dirty="0"/>
              <a:t> "</a:t>
            </a:r>
            <a:r>
              <a:rPr lang="en-US" dirty="0" err="1"/>
              <a:t>Sabino_MBGeo_Mask.pfb</a:t>
            </a:r>
            <a:r>
              <a:rPr lang="en-US" dirty="0"/>
              <a:t>"]</a:t>
            </a:r>
          </a:p>
          <a:p>
            <a:r>
              <a:rPr lang="en-US" dirty="0">
                <a:solidFill>
                  <a:srgbClr val="0432FF"/>
                </a:solidFill>
              </a:rPr>
              <a:t>set Bot [</a:t>
            </a:r>
            <a:r>
              <a:rPr lang="en-US" dirty="0" err="1">
                <a:solidFill>
                  <a:srgbClr val="0432FF"/>
                </a:solidFill>
              </a:rPr>
              <a:t>pfload</a:t>
            </a:r>
            <a:r>
              <a:rPr lang="en-US" dirty="0">
                <a:solidFill>
                  <a:srgbClr val="0432FF"/>
                </a:solidFill>
              </a:rPr>
              <a:t> -</a:t>
            </a:r>
            <a:r>
              <a:rPr lang="en-US" dirty="0" err="1">
                <a:solidFill>
                  <a:srgbClr val="0432FF"/>
                </a:solidFill>
              </a:rPr>
              <a:t>pfb</a:t>
            </a:r>
            <a:r>
              <a:rPr lang="en-US" dirty="0">
                <a:solidFill>
                  <a:srgbClr val="0432FF"/>
                </a:solidFill>
              </a:rPr>
              <a:t> "</a:t>
            </a:r>
            <a:r>
              <a:rPr lang="en-US" dirty="0" err="1">
                <a:solidFill>
                  <a:srgbClr val="0432FF"/>
                </a:solidFill>
              </a:rPr>
              <a:t>Sabino_MBGeo_Bot.pfb</a:t>
            </a:r>
            <a:r>
              <a:rPr lang="en-US" dirty="0">
                <a:solidFill>
                  <a:srgbClr val="0432FF"/>
                </a:solidFill>
              </a:rPr>
              <a:t>"]</a:t>
            </a:r>
          </a:p>
          <a:p>
            <a:r>
              <a:rPr lang="en-US" b="1" dirty="0" err="1"/>
              <a:t>pfpatchysolid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-top $DEM </a:t>
            </a:r>
            <a:r>
              <a:rPr lang="en-US" dirty="0"/>
              <a:t>-bot $Bot 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 err="1">
                <a:solidFill>
                  <a:srgbClr val="FF0000"/>
                </a:solidFill>
              </a:rPr>
              <a:t>pfsol</a:t>
            </a:r>
            <a:r>
              <a:rPr lang="en-US" dirty="0">
                <a:solidFill>
                  <a:srgbClr val="FF0000"/>
                </a:solidFill>
              </a:rPr>
              <a:t> "</a:t>
            </a:r>
            <a:r>
              <a:rPr lang="en-US" dirty="0" err="1">
                <a:solidFill>
                  <a:srgbClr val="FF0000"/>
                </a:solidFill>
              </a:rPr>
              <a:t>mbgeo_OG.pfsol</a:t>
            </a:r>
            <a:r>
              <a:rPr lang="en-US" dirty="0">
                <a:solidFill>
                  <a:srgbClr val="FF0000"/>
                </a:solidFill>
              </a:rPr>
              <a:t>" </a:t>
            </a:r>
            <a:r>
              <a:rPr lang="en-US" dirty="0"/>
              <a:t>-</a:t>
            </a:r>
            <a:r>
              <a:rPr lang="en-US" dirty="0" err="1"/>
              <a:t>msk</a:t>
            </a:r>
            <a:r>
              <a:rPr lang="en-US" dirty="0"/>
              <a:t> $</a:t>
            </a:r>
            <a:r>
              <a:rPr lang="en-US" dirty="0" err="1"/>
              <a:t>Msk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 err="1">
                <a:solidFill>
                  <a:srgbClr val="FF0000"/>
                </a:solidFill>
              </a:rPr>
              <a:t>vtk</a:t>
            </a:r>
            <a:r>
              <a:rPr lang="en-US" dirty="0">
                <a:solidFill>
                  <a:srgbClr val="FF0000"/>
                </a:solidFill>
              </a:rPr>
              <a:t> "</a:t>
            </a:r>
            <a:r>
              <a:rPr lang="en-US" dirty="0" err="1">
                <a:solidFill>
                  <a:srgbClr val="FF0000"/>
                </a:solidFill>
              </a:rPr>
              <a:t>mbgeo_OG.vtk</a:t>
            </a:r>
            <a:r>
              <a:rPr lang="en-US" dirty="0">
                <a:solidFill>
                  <a:srgbClr val="FF0000"/>
                </a:solidFill>
              </a:rPr>
              <a:t>" </a:t>
            </a:r>
          </a:p>
          <a:p>
            <a:endParaRPr lang="en-US" dirty="0"/>
          </a:p>
          <a:p>
            <a:r>
              <a:rPr lang="en-US" dirty="0"/>
              <a:t>set </a:t>
            </a:r>
            <a:r>
              <a:rPr lang="en-US" dirty="0" err="1"/>
              <a:t>TFGtop</a:t>
            </a:r>
            <a:r>
              <a:rPr lang="en-US" dirty="0"/>
              <a:t> [</a:t>
            </a:r>
            <a:r>
              <a:rPr lang="en-US" dirty="0" err="1"/>
              <a:t>pfcelldiff</a:t>
            </a:r>
            <a:r>
              <a:rPr lang="en-US" dirty="0"/>
              <a:t> $DEM $DEM $</a:t>
            </a:r>
            <a:r>
              <a:rPr lang="en-US" dirty="0" err="1"/>
              <a:t>DMsk</a:t>
            </a:r>
            <a:r>
              <a:rPr lang="en-US" dirty="0"/>
              <a:t>]</a:t>
            </a:r>
          </a:p>
          <a:p>
            <a:r>
              <a:rPr lang="en-US" dirty="0">
                <a:solidFill>
                  <a:srgbClr val="0432FF"/>
                </a:solidFill>
              </a:rPr>
              <a:t>set </a:t>
            </a:r>
            <a:r>
              <a:rPr lang="en-US" dirty="0" err="1">
                <a:solidFill>
                  <a:srgbClr val="0432FF"/>
                </a:solidFill>
              </a:rPr>
              <a:t>TFGbot</a:t>
            </a:r>
            <a:r>
              <a:rPr lang="en-US" dirty="0">
                <a:solidFill>
                  <a:srgbClr val="0432FF"/>
                </a:solidFill>
              </a:rPr>
              <a:t> [</a:t>
            </a:r>
            <a:r>
              <a:rPr lang="en-US" dirty="0" err="1">
                <a:solidFill>
                  <a:srgbClr val="0432FF"/>
                </a:solidFill>
              </a:rPr>
              <a:t>pfcelldiff</a:t>
            </a:r>
            <a:r>
              <a:rPr lang="en-US" dirty="0">
                <a:solidFill>
                  <a:srgbClr val="0432FF"/>
                </a:solidFill>
              </a:rPr>
              <a:t> $Bot $DEM $</a:t>
            </a:r>
            <a:r>
              <a:rPr lang="en-US" dirty="0" err="1">
                <a:solidFill>
                  <a:srgbClr val="0432FF"/>
                </a:solidFill>
              </a:rPr>
              <a:t>DMsk</a:t>
            </a:r>
            <a:r>
              <a:rPr lang="en-US" dirty="0">
                <a:solidFill>
                  <a:srgbClr val="0432FF"/>
                </a:solidFill>
              </a:rPr>
              <a:t>]</a:t>
            </a:r>
          </a:p>
          <a:p>
            <a:r>
              <a:rPr lang="en-US" dirty="0"/>
              <a:t>set </a:t>
            </a:r>
            <a:r>
              <a:rPr lang="en-US" dirty="0" err="1"/>
              <a:t>TFGtop</a:t>
            </a:r>
            <a:r>
              <a:rPr lang="en-US" dirty="0"/>
              <a:t> [</a:t>
            </a:r>
            <a:r>
              <a:rPr lang="en-US" dirty="0" err="1"/>
              <a:t>pfcellsumconst</a:t>
            </a:r>
            <a:r>
              <a:rPr lang="en-US" dirty="0"/>
              <a:t> $</a:t>
            </a:r>
            <a:r>
              <a:rPr lang="en-US" dirty="0" err="1"/>
              <a:t>TFGtop</a:t>
            </a:r>
            <a:r>
              <a:rPr lang="en-US" dirty="0"/>
              <a:t> 500 $</a:t>
            </a:r>
            <a:r>
              <a:rPr lang="en-US" dirty="0" err="1"/>
              <a:t>DMsk</a:t>
            </a:r>
            <a:r>
              <a:rPr lang="en-US" dirty="0"/>
              <a:t>]</a:t>
            </a:r>
          </a:p>
          <a:p>
            <a:r>
              <a:rPr lang="en-US" dirty="0">
                <a:solidFill>
                  <a:srgbClr val="0432FF"/>
                </a:solidFill>
              </a:rPr>
              <a:t>set </a:t>
            </a:r>
            <a:r>
              <a:rPr lang="en-US" dirty="0" err="1">
                <a:solidFill>
                  <a:srgbClr val="0432FF"/>
                </a:solidFill>
              </a:rPr>
              <a:t>TFGbot</a:t>
            </a:r>
            <a:r>
              <a:rPr lang="en-US" dirty="0">
                <a:solidFill>
                  <a:srgbClr val="0432FF"/>
                </a:solidFill>
              </a:rPr>
              <a:t> [</a:t>
            </a:r>
            <a:r>
              <a:rPr lang="en-US" dirty="0" err="1">
                <a:solidFill>
                  <a:srgbClr val="0432FF"/>
                </a:solidFill>
              </a:rPr>
              <a:t>pfcellsumconst</a:t>
            </a:r>
            <a:r>
              <a:rPr lang="en-US" dirty="0">
                <a:solidFill>
                  <a:srgbClr val="0432FF"/>
                </a:solidFill>
              </a:rPr>
              <a:t> $</a:t>
            </a:r>
            <a:r>
              <a:rPr lang="en-US" dirty="0" err="1">
                <a:solidFill>
                  <a:srgbClr val="0432FF"/>
                </a:solidFill>
              </a:rPr>
              <a:t>TFGbot</a:t>
            </a:r>
            <a:r>
              <a:rPr lang="en-US" dirty="0">
                <a:solidFill>
                  <a:srgbClr val="0432FF"/>
                </a:solidFill>
              </a:rPr>
              <a:t> 750 $</a:t>
            </a:r>
            <a:r>
              <a:rPr lang="en-US" dirty="0" err="1">
                <a:solidFill>
                  <a:srgbClr val="0432FF"/>
                </a:solidFill>
              </a:rPr>
              <a:t>DMsk</a:t>
            </a:r>
            <a:r>
              <a:rPr lang="en-US" dirty="0">
                <a:solidFill>
                  <a:srgbClr val="0432FF"/>
                </a:solidFill>
              </a:rPr>
              <a:t>]</a:t>
            </a:r>
          </a:p>
          <a:p>
            <a:r>
              <a:rPr lang="en-US" b="1" dirty="0" err="1"/>
              <a:t>pfpatchysolid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-top $</a:t>
            </a:r>
            <a:r>
              <a:rPr lang="en-US" dirty="0" err="1">
                <a:solidFill>
                  <a:srgbClr val="FF0000"/>
                </a:solidFill>
              </a:rPr>
              <a:t>TFGtop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-bot $</a:t>
            </a:r>
            <a:r>
              <a:rPr lang="en-US" dirty="0" err="1"/>
              <a:t>TFGbot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 err="1">
                <a:solidFill>
                  <a:srgbClr val="FF0000"/>
                </a:solidFill>
              </a:rPr>
              <a:t>pfsol</a:t>
            </a:r>
            <a:r>
              <a:rPr lang="en-US" dirty="0">
                <a:solidFill>
                  <a:srgbClr val="FF0000"/>
                </a:solidFill>
              </a:rPr>
              <a:t> "</a:t>
            </a:r>
            <a:r>
              <a:rPr lang="en-US" dirty="0" err="1">
                <a:solidFill>
                  <a:srgbClr val="FF0000"/>
                </a:solidFill>
              </a:rPr>
              <a:t>mbgeo_TFG.pfsol</a:t>
            </a:r>
            <a:r>
              <a:rPr lang="en-US" dirty="0">
                <a:solidFill>
                  <a:srgbClr val="FF0000"/>
                </a:solidFill>
              </a:rPr>
              <a:t>" </a:t>
            </a:r>
            <a:r>
              <a:rPr lang="en-US" dirty="0"/>
              <a:t>-</a:t>
            </a:r>
            <a:r>
              <a:rPr lang="en-US" dirty="0" err="1"/>
              <a:t>msk</a:t>
            </a:r>
            <a:r>
              <a:rPr lang="en-US" dirty="0"/>
              <a:t> $</a:t>
            </a:r>
            <a:r>
              <a:rPr lang="en-US" dirty="0" err="1"/>
              <a:t>Msk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 err="1">
                <a:solidFill>
                  <a:srgbClr val="FF0000"/>
                </a:solidFill>
              </a:rPr>
              <a:t>vtk</a:t>
            </a:r>
            <a:r>
              <a:rPr lang="en-US" dirty="0">
                <a:solidFill>
                  <a:srgbClr val="FF0000"/>
                </a:solidFill>
              </a:rPr>
              <a:t> "</a:t>
            </a:r>
            <a:r>
              <a:rPr lang="en-US" dirty="0" err="1">
                <a:solidFill>
                  <a:srgbClr val="FF0000"/>
                </a:solidFill>
              </a:rPr>
              <a:t>mbgeo_TFG.vtk</a:t>
            </a:r>
            <a:r>
              <a:rPr lang="en-US" dirty="0">
                <a:solidFill>
                  <a:srgbClr val="FF0000"/>
                </a:solidFill>
              </a:rPr>
              <a:t>"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BB8C5B-2D83-3A1F-DC84-61DFE93F1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624" y="2125909"/>
            <a:ext cx="5063856" cy="35976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958020-C756-C766-E8C8-1FE4C5C39BB0}"/>
              </a:ext>
            </a:extLst>
          </p:cNvPr>
          <p:cNvSpPr txBox="1"/>
          <p:nvPr/>
        </p:nvSpPr>
        <p:spPr>
          <a:xfrm>
            <a:off x="9494520" y="4108949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OG</a:t>
            </a:r>
            <a:endParaRPr lang="en-US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87400B-E0C7-8429-D00C-E78B14F6A757}"/>
              </a:ext>
            </a:extLst>
          </p:cNvPr>
          <p:cNvSpPr txBox="1"/>
          <p:nvPr/>
        </p:nvSpPr>
        <p:spPr>
          <a:xfrm>
            <a:off x="9769595" y="5039782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TFG</a:t>
            </a:r>
            <a:endParaRPr lang="en-US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5181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EC00ED-C754-BB63-E7D9-4419FF04E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879" y="2175481"/>
            <a:ext cx="3017520" cy="35782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EC64EC-EEEC-6DDA-88DC-E11C30F1C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461" y="919025"/>
            <a:ext cx="7772400" cy="107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591A70-E55C-96BB-2D11-3E47880695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2461" y="2151835"/>
            <a:ext cx="4652456" cy="32849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AAAE52-57A8-77AA-DEC9-4C35E0809D1C}"/>
              </a:ext>
            </a:extLst>
          </p:cNvPr>
          <p:cNvSpPr txBox="1"/>
          <p:nvPr/>
        </p:nvSpPr>
        <p:spPr>
          <a:xfrm>
            <a:off x="1902461" y="567514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 err="1">
                <a:solidFill>
                  <a:srgbClr val="0432FF"/>
                </a:solidFill>
                <a:effectLst/>
                <a:latin typeface="Century Gothic" panose="020B0502020202020204" pitchFamily="34" charset="0"/>
              </a:rPr>
              <a:t>pfmask</a:t>
            </a:r>
            <a:r>
              <a:rPr lang="en-US" sz="1800" b="1" i="0" dirty="0">
                <a:solidFill>
                  <a:srgbClr val="0432FF"/>
                </a:solidFill>
                <a:effectLst/>
                <a:latin typeface="Century Gothic" panose="020B0502020202020204" pitchFamily="34" charset="0"/>
              </a:rPr>
              <a:t>-to-</a:t>
            </a:r>
            <a:r>
              <a:rPr lang="en-US" sz="1800" b="1" i="0" dirty="0" err="1">
                <a:solidFill>
                  <a:srgbClr val="0432FF"/>
                </a:solidFill>
                <a:effectLst/>
                <a:latin typeface="Century Gothic" panose="020B0502020202020204" pitchFamily="34" charset="0"/>
              </a:rPr>
              <a:t>pfsol</a:t>
            </a:r>
            <a:r>
              <a:rPr lang="zh-CN" altLang="en-US" sz="1800" b="1" i="0" dirty="0">
                <a:solidFill>
                  <a:srgbClr val="0432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Century Gothic" panose="020B0502020202020204" pitchFamily="34" charset="0"/>
              </a:rPr>
              <a:t>可以在命令行运行</a:t>
            </a:r>
            <a:endParaRPr lang="en-US" sz="1800" b="1" i="0" dirty="0">
              <a:solidFill>
                <a:srgbClr val="FF0000"/>
              </a:solidFill>
              <a:effectLst/>
              <a:latin typeface="Century Gothic" panose="020B0502020202020204" pitchFamily="34" charset="0"/>
            </a:endParaRPr>
          </a:p>
          <a:p>
            <a:r>
              <a:rPr lang="en-US" b="1" dirty="0" err="1">
                <a:solidFill>
                  <a:srgbClr val="0432FF"/>
                </a:solidFill>
                <a:latin typeface="Century Gothic" panose="020B0502020202020204" pitchFamily="34" charset="0"/>
              </a:rPr>
              <a:t>pfpatchysolid</a:t>
            </a:r>
            <a:r>
              <a:rPr lang="zh-CN" altLang="en-US" b="1" dirty="0">
                <a:solidFill>
                  <a:srgbClr val="0432FF"/>
                </a:solidFill>
                <a:latin typeface="Century Gothic" panose="020B0502020202020204" pitchFamily="34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Century Gothic" panose="020B0502020202020204" pitchFamily="34" charset="0"/>
              </a:rPr>
              <a:t>需要在</a:t>
            </a:r>
            <a:r>
              <a:rPr lang="en-US" altLang="zh-CN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tcl</a:t>
            </a:r>
            <a:r>
              <a:rPr lang="zh-CN" altLang="en-US" b="1" dirty="0">
                <a:solidFill>
                  <a:srgbClr val="FF0000"/>
                </a:solidFill>
                <a:latin typeface="Century Gothic" panose="020B0502020202020204" pitchFamily="34" charset="0"/>
              </a:rPr>
              <a:t>文件中调用</a:t>
            </a:r>
            <a:endParaRPr lang="en-US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9E4121E-0381-E241-74E2-87464D00283C}"/>
              </a:ext>
            </a:extLst>
          </p:cNvPr>
          <p:cNvSpPr/>
          <p:nvPr/>
        </p:nvSpPr>
        <p:spPr>
          <a:xfrm>
            <a:off x="7998461" y="822960"/>
            <a:ext cx="947419" cy="35814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4DD2CD-A612-F6F3-5FF3-7BA994014F34}"/>
              </a:ext>
            </a:extLst>
          </p:cNvPr>
          <p:cNvSpPr txBox="1"/>
          <p:nvPr/>
        </p:nvSpPr>
        <p:spPr>
          <a:xfrm>
            <a:off x="7905749" y="5828954"/>
            <a:ext cx="28117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432FF"/>
                </a:solidFill>
                <a:latin typeface="Century Gothic" panose="020B0502020202020204" pitchFamily="34" charset="0"/>
              </a:rPr>
              <a:t>pfpatchysolid</a:t>
            </a:r>
            <a:r>
              <a:rPr lang="zh-CN" altLang="en-US" sz="1800" b="1" dirty="0">
                <a:solidFill>
                  <a:srgbClr val="0432FF"/>
                </a:solidFill>
                <a:latin typeface="Century Gothic" panose="020B0502020202020204" pitchFamily="34" charset="0"/>
              </a:rPr>
              <a:t> 生成的</a:t>
            </a:r>
            <a:r>
              <a:rPr lang="en-US" altLang="zh-CN" sz="1800" b="1" dirty="0">
                <a:solidFill>
                  <a:srgbClr val="0432FF"/>
                </a:solidFill>
                <a:latin typeface="Century Gothic" panose="020B0502020202020204" pitchFamily="34" charset="0"/>
              </a:rPr>
              <a:t>6</a:t>
            </a:r>
            <a:r>
              <a:rPr lang="zh-CN" altLang="en-US" sz="1800" b="1" dirty="0">
                <a:solidFill>
                  <a:srgbClr val="0432FF"/>
                </a:solidFill>
                <a:latin typeface="Century Gothic" panose="020B0502020202020204" pitchFamily="34" charset="0"/>
              </a:rPr>
              <a:t>个</a:t>
            </a:r>
            <a:r>
              <a:rPr lang="en-US" altLang="zh-CN" sz="1800" b="1" dirty="0" err="1">
                <a:solidFill>
                  <a:srgbClr val="0432FF"/>
                </a:solidFill>
                <a:latin typeface="Century Gothic" panose="020B0502020202020204" pitchFamily="34" charset="0"/>
              </a:rPr>
              <a:t>pfsol</a:t>
            </a:r>
            <a:r>
              <a:rPr lang="zh-CN" altLang="en-US" sz="1800" b="1" dirty="0">
                <a:solidFill>
                  <a:srgbClr val="0432FF"/>
                </a:solidFill>
                <a:latin typeface="Century Gothic" panose="020B0502020202020204" pitchFamily="34" charset="0"/>
              </a:rPr>
              <a:t>的</a:t>
            </a:r>
            <a:r>
              <a:rPr lang="en-US" altLang="zh-CN" sz="1800" b="1" dirty="0">
                <a:solidFill>
                  <a:srgbClr val="0432FF"/>
                </a:solidFill>
                <a:latin typeface="Century Gothic" panose="020B0502020202020204" pitchFamily="34" charset="0"/>
              </a:rPr>
              <a:t>patch</a:t>
            </a:r>
            <a:r>
              <a:rPr lang="zh-CN" altLang="en-US" sz="1800" b="1" dirty="0">
                <a:solidFill>
                  <a:srgbClr val="0432FF"/>
                </a:solidFill>
                <a:latin typeface="Century Gothic" panose="020B0502020202020204" pitchFamily="34" charset="0"/>
              </a:rPr>
              <a:t>信息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965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683</Words>
  <Application>Microsoft Macintosh PowerPoint</Application>
  <PresentationFormat>Widescreen</PresentationFormat>
  <Paragraphs>80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Microsoft YaHei</vt:lpstr>
      <vt:lpstr>Aptos</vt:lpstr>
      <vt:lpstr>Aptos Display</vt:lpstr>
      <vt:lpstr>Arial</vt:lpstr>
      <vt:lpstr>Century Gothic</vt:lpstr>
      <vt:lpstr>Office Theme</vt:lpstr>
      <vt:lpstr>第六讲 ParFlow中Solid文件的构建</vt:lpstr>
      <vt:lpstr>PowerPoint Presentation</vt:lpstr>
      <vt:lpstr>1. pfsol文件格式</vt:lpstr>
      <vt:lpstr>PowerPoint Presentation</vt:lpstr>
      <vt:lpstr>2. 为 Sabino Canyon 计算域构建实体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Yang</dc:creator>
  <cp:lastModifiedBy>Chen Yang</cp:lastModifiedBy>
  <cp:revision>37</cp:revision>
  <dcterms:created xsi:type="dcterms:W3CDTF">2026-07-04T02:48:53Z</dcterms:created>
  <dcterms:modified xsi:type="dcterms:W3CDTF">2026-07-04T10:32:49Z</dcterms:modified>
</cp:coreProperties>
</file>