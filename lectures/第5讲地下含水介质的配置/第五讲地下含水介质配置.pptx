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57" r:id="rId5"/>
    <p:sldId id="270" r:id="rId6"/>
    <p:sldId id="260" r:id="rId7"/>
    <p:sldId id="262" r:id="rId8"/>
    <p:sldId id="261" r:id="rId9"/>
    <p:sldId id="263" r:id="rId10"/>
    <p:sldId id="268" r:id="rId11"/>
    <p:sldId id="266" r:id="rId12"/>
    <p:sldId id="264" r:id="rId13"/>
    <p:sldId id="267" r:id="rId14"/>
    <p:sldId id="269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77"/>
    <p:restoredTop sz="94633"/>
  </p:normalViewPr>
  <p:slideViewPr>
    <p:cSldViewPr snapToGrid="0">
      <p:cViewPr varScale="1">
        <p:scale>
          <a:sx n="147" d="100"/>
          <a:sy n="147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A7A7B-FA84-0647-8885-234862F366E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7EEA9-8DB8-8743-AFEE-A86FCE221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1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7EEA9-8DB8-8743-AFEE-A86FCE2214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11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7EEA9-8DB8-8743-AFEE-A86FCE2214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0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7E55-145B-212C-9EE6-EB2331093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9EA5D-AD7D-7FD4-C7AE-D4BB5FAED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FAF7A-2B3D-D3D4-9831-2EC921D9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095F2-919F-F063-DE84-1EEC69D18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08510-1F12-9C80-7320-F0575573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3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1696-AB19-A7EB-06B9-E22D4D193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F392-45F1-A231-CFC2-FC8D42869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5A444-D7BC-04E7-1B4A-27009F415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DE932-7D18-BAAA-9C8A-F68C0E8F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F5A22-87E1-619C-5A5C-DC4E860E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6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53BB-7B2A-9A70-68ED-8FA39BF9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9F34F-8BE4-1A7C-3366-B930BCA0B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5AFE5-C6A8-0C0C-7E39-6C1DEDC1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DF2FF-67E3-8464-38ED-CB43D477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48BA-9628-E0A1-F9B5-8DFE8497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21504-CC19-487F-2813-DB71DE7C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3DAD3-57FA-0B5D-F9D7-DB170490D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4B1A4-91AB-3836-21D3-C75A9ED62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5311C-EC83-0814-0A01-55F1FA881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8BBE5-14B6-64AB-D283-FB6C26A4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31C88-5F62-C98E-8458-9A47CA38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49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D43B-ECAD-4E78-72C7-F8C2CE251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D3CD-5ECA-E822-4DD8-0C4CDBECA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9E095-DF48-ADD6-FAFF-6FCCBF8EA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A181B3-C47E-3335-B4E1-49C471344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B67BAD-DEF8-61BD-02AE-EB38B397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784CA-9EB8-774A-0937-746CBD89E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CB9CB-274F-FBF1-8D4D-E55BED684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CE3CC-7F44-B29D-2BE4-821F1357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2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B405-B041-A68B-A973-3EA1D957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569C9D-0D41-2641-C1D5-CDADFF3B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45810-27CD-41EA-0937-5A9A75A7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4111AC-B797-ADD2-51AA-27D6EC55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8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E5DCE1-D31C-11F6-F9A3-607E3A15F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DFE4A-77F0-F7C2-52D8-D833923B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0AD71-DEB8-C57E-0F77-E5C38E15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8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F070-90FF-1181-0192-BC371D06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25560-D9B7-1C73-BB08-D335D429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9D1CFA-9186-53EC-5E8E-53EC89CFF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BFB70-E9C9-870B-7887-0DACBA9F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2D1FA-4E7C-8B08-A46B-BF3C76996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22721-1AF6-8E24-7560-3867DA2E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7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0B5BA-5FF0-927F-DD44-3B482F04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87B54-5E91-D6BD-93DF-8C550F6EB1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D1332-B6F1-DF47-8920-2C667CEE4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95D4A-C625-BF27-3F68-0F8F3AFA4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7917B-064E-5E05-DA01-DCBB01FC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B09DD-BF87-5DA6-86F8-67202FD1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0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174C8-849C-A09F-18D6-22ABAC9C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EEB1C-C095-D5EC-0792-69327D4E2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6605B-1641-CC68-E7C6-DD276FF8E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70BDA-511F-2A9C-2989-411F653BF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6D1CE-9DB4-05CE-A85D-2CD912DD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6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131141-7610-07DB-8F56-23124FC23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DC676-FD98-4D4E-1571-6BB28C261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1C154-10BB-767C-D916-EFD13A233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7729A-3E3A-7BEE-08BE-4D0BFA1B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5CB7B-0103-F2C2-2C38-E1D127DA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61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00FDB0-C33C-BEE5-5F82-D5706B3E8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99D34-0B51-E7C1-29BB-5FD2828E7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1DB99-B409-9FAF-627D-B3CDDA072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A152B-37B2-F64A-89D6-4F8A9350BEE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420C7-3236-6DAA-F390-DED40A29E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079B8-B44B-207E-B92F-BB97144C0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774D5-75B6-5547-95E2-0D4696D23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89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github.com/ParFlowCommunity/ParFlow-Online-Course/tree/mai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4496-93BC-0438-5E6D-C64A8B95B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第五讲</a:t>
            </a:r>
            <a:r>
              <a:rPr lang="zh-CN" altLang="en-US" sz="5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5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地下含水介质的配置</a:t>
            </a:r>
            <a:endParaRPr lang="en-US" sz="5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6BF59-7591-DFD6-90F8-8D1EB67AC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中山大学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大气科学学院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杨晨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011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F1BD-EA18-D1EF-5DEF-2CF62A9C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大尺度地下水建模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TFG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网格）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F34F3-ACD3-A0E4-7366-B440E7A38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哪里需要配置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？</a:t>
            </a:r>
            <a:endParaRPr lang="en-US" altLang="zh-CN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CLM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inputs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CoLM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inputs</a:t>
            </a:r>
          </a:p>
          <a:p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ParFlow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inputs: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Indicator</a:t>
            </a:r>
          </a:p>
          <a:p>
            <a:pPr lvl="1"/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Shallow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soil</a:t>
            </a:r>
          </a:p>
          <a:p>
            <a:pPr lvl="1"/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Deep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aquifer</a:t>
            </a:r>
          </a:p>
          <a:p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8914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DF4A-6003-43E6-1DB4-80FDCD90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81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CLM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inputs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9EEA36-80DC-2C01-429C-3C29A9C78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27" y="1552748"/>
            <a:ext cx="3017520" cy="4191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FD4AF2-FA5D-CF18-30D7-4257A16F3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368" y="866917"/>
            <a:ext cx="6035040" cy="24517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9DE387-7CEB-7E8A-F1EE-A77AF0692E2D}"/>
              </a:ext>
            </a:extLst>
          </p:cNvPr>
          <p:cNvSpPr txBox="1"/>
          <p:nvPr/>
        </p:nvSpPr>
        <p:spPr>
          <a:xfrm>
            <a:off x="1402774" y="6162944"/>
            <a:ext cx="8921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4"/>
              </a:rPr>
              <a:t>https://github.com/ParFlowCommunity/ParFlow-Online-Course/tree/main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47C99B-B739-3E6F-3FC0-7AF59A895409}"/>
              </a:ext>
            </a:extLst>
          </p:cNvPr>
          <p:cNvSpPr txBox="1"/>
          <p:nvPr/>
        </p:nvSpPr>
        <p:spPr>
          <a:xfrm>
            <a:off x="4576848" y="3320549"/>
            <a:ext cx="6627321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sand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wf_sand_s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  ! sand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在整个干土固体混合物中的质量分数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clay: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wf_clay_s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  ! clay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在整个干土固体混合物中的质量分数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BFB8D2-B08A-66BD-1D1F-574E857ED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2781" y="4331859"/>
            <a:ext cx="4206240" cy="14929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A485F8-F6F1-FB61-4990-04082B4DF054}"/>
              </a:ext>
            </a:extLst>
          </p:cNvPr>
          <p:cNvSpPr txBox="1"/>
          <p:nvPr/>
        </p:nvSpPr>
        <p:spPr>
          <a:xfrm>
            <a:off x="1167161" y="5769006"/>
            <a:ext cx="2847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ParFlow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在线课程实例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0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84600C-0F76-18E5-853D-3156C8319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108" y="1498889"/>
            <a:ext cx="4937760" cy="11794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1C0C3C-D506-C977-0B66-A68216365586}"/>
              </a:ext>
            </a:extLst>
          </p:cNvPr>
          <p:cNvSpPr txBox="1"/>
          <p:nvPr/>
        </p:nvSpPr>
        <p:spPr>
          <a:xfrm>
            <a:off x="6781108" y="3076889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globalchange.bnu.edu.cn</a:t>
            </a:r>
            <a:r>
              <a:rPr lang="en-US" dirty="0"/>
              <a:t>/research/</a:t>
            </a:r>
            <a:r>
              <a:rPr lang="en-US" dirty="0" err="1"/>
              <a:t>soilw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4053B7-6713-950F-49E3-94DD5D419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108" y="3409288"/>
            <a:ext cx="4937760" cy="153799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94F2C1F-9665-23CB-1BD8-633EC24F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CLM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inputs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BF47C3-3AFE-8651-9465-D960EBAFA967}"/>
              </a:ext>
            </a:extLst>
          </p:cNvPr>
          <p:cNvSpPr txBox="1"/>
          <p:nvPr/>
        </p:nvSpPr>
        <p:spPr>
          <a:xfrm>
            <a:off x="6704908" y="1129557"/>
            <a:ext cx="1294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输入参数：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24C1FA-010A-BCAA-2340-C7421CAF6151}"/>
              </a:ext>
            </a:extLst>
          </p:cNvPr>
          <p:cNvSpPr txBox="1"/>
          <p:nvPr/>
        </p:nvSpPr>
        <p:spPr>
          <a:xfrm>
            <a:off x="6704907" y="2803383"/>
            <a:ext cx="1294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数据来源：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22EC2D-6083-7638-D600-48A1B8093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270" y="4863719"/>
            <a:ext cx="4846320" cy="158736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1225251-290E-F736-18FB-10C022F57178}"/>
              </a:ext>
            </a:extLst>
          </p:cNvPr>
          <p:cNvGrpSpPr/>
          <p:nvPr/>
        </p:nvGrpSpPr>
        <p:grpSpPr>
          <a:xfrm>
            <a:off x="25977" y="1378924"/>
            <a:ext cx="6414950" cy="5022252"/>
            <a:chOff x="25977" y="1378924"/>
            <a:chExt cx="6414950" cy="502225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F94C1A5-32C3-563E-83C5-9858963B7D57}"/>
                </a:ext>
              </a:extLst>
            </p:cNvPr>
            <p:cNvGrpSpPr/>
            <p:nvPr/>
          </p:nvGrpSpPr>
          <p:grpSpPr>
            <a:xfrm>
              <a:off x="280553" y="1378924"/>
              <a:ext cx="6160374" cy="5022252"/>
              <a:chOff x="280553" y="1465637"/>
              <a:chExt cx="6160374" cy="502225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F2EBFB3-146C-2DE1-ED4E-AA4ED3780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r="33031" b="16855"/>
              <a:stretch>
                <a:fillRect/>
              </a:stretch>
            </p:blipFill>
            <p:spPr>
              <a:xfrm>
                <a:off x="280553" y="1465637"/>
                <a:ext cx="6160374" cy="5022252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281B0DD-213C-4140-C4D1-382F1D174C17}"/>
                  </a:ext>
                </a:extLst>
              </p:cNvPr>
              <p:cNvSpPr/>
              <p:nvPr/>
            </p:nvSpPr>
            <p:spPr>
              <a:xfrm>
                <a:off x="673330" y="5685905"/>
                <a:ext cx="806334" cy="374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14B990-F224-91E0-2152-669594B5D0A0}"/>
                  </a:ext>
                </a:extLst>
              </p:cNvPr>
              <p:cNvSpPr txBox="1"/>
              <p:nvPr/>
            </p:nvSpPr>
            <p:spPr>
              <a:xfrm>
                <a:off x="5064531" y="3627453"/>
                <a:ext cx="12947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 err="1">
                    <a:solidFill>
                      <a:srgbClr val="FF0000"/>
                    </a:solidFill>
                  </a:rPr>
                  <a:t>CoLM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源码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9FE7086-BD81-EEC2-D81F-70610ACA40DD}"/>
                </a:ext>
              </a:extLst>
            </p:cNvPr>
            <p:cNvSpPr txBox="1"/>
            <p:nvPr/>
          </p:nvSpPr>
          <p:spPr>
            <a:xfrm>
              <a:off x="25977" y="5603933"/>
              <a:ext cx="12947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 err="1">
                  <a:solidFill>
                    <a:srgbClr val="FF0000"/>
                  </a:solidFill>
                </a:rPr>
                <a:t>输出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0034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7BCD-9356-1DB8-53F9-0DACF66AE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CLM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inputs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905AE4-0742-CCE9-BECD-2AD7C754D062}"/>
              </a:ext>
            </a:extLst>
          </p:cNvPr>
          <p:cNvSpPr txBox="1"/>
          <p:nvPr/>
        </p:nvSpPr>
        <p:spPr>
          <a:xfrm>
            <a:off x="455228" y="2883274"/>
            <a:ext cx="1084076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200" b="1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首先计算4层分层中的sand、clay、om、gravels的质量分数,以sand为例：</a:t>
            </a:r>
          </a:p>
          <a:p>
            <a:r>
              <a:rPr lang="en-US" sz="1200" b="1" dirty="0" err="1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下面计算中的</a:t>
            </a:r>
            <a:r>
              <a:rPr lang="en-US" altLang="zh-CN" sz="1200" b="1" dirty="0" err="1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BD</a:t>
            </a:r>
            <a:r>
              <a:rPr lang="zh-CN" altLang="en-US" sz="1200" b="1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为前页中的</a:t>
            </a:r>
            <a:r>
              <a:rPr lang="en-US" sz="12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BD_ave</a:t>
            </a:r>
            <a:endParaRPr lang="en-US" sz="1200" b="1" dirty="0">
              <a:solidFill>
                <a:srgbClr val="FF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>
              <a:buNone/>
            </a:pPr>
            <a:endParaRPr lang="en-US" sz="12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>
              <a:buNone/>
            </a:pP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layer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1：(wf_sand_s_l1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BD_l1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l1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wf_sand_s_l2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BD_l2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l2 + wf_sand_s_l3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BD_l3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(0.1-0.0906))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</a:p>
          <a:p>
            <a:pPr marL="0" marR="0">
              <a:buNone/>
            </a:pP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(BD_l1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l1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BD_l2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l2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BD_l3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(0.1-0.0906))</a:t>
            </a:r>
          </a:p>
          <a:p>
            <a:pPr marL="0" marR="0">
              <a:buNone/>
            </a:pPr>
            <a:endParaRPr lang="en-US" sz="12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>
              <a:buNone/>
            </a:pP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layer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2：(wf_sand_s_l3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BD_l3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(0.1655-0.1)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wf_sand_s_l4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BD_l4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l4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wf_sand_s_l5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BD_l5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(0.4-0.2891))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altLang="zh-CN" sz="12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>
              <a:buNone/>
            </a:pP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(BD_l3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(0.1655-0.1)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BD_l4*l4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BD_l5* (0.4-0.2891))</a:t>
            </a:r>
          </a:p>
          <a:p>
            <a:pPr marL="0" marR="0">
              <a:buNone/>
            </a:pPr>
            <a:endParaRPr lang="en-US" sz="12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>
              <a:buNone/>
            </a:pP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layer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3：(wf_sand_s_l5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BD_l5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(0.4929-0.4)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wf_sand_s_l6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BD_l6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l6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wf_sand_s_l7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BD_l7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(1-0.8289))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</a:p>
          <a:p>
            <a:pPr marL="0" marR="0">
              <a:buNone/>
            </a:pP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(BD_l5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(0.4929-0.4)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BD_l6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*l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6 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BD_l7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(1-0.8289))</a:t>
            </a:r>
          </a:p>
          <a:p>
            <a:pPr marL="0" marR="0">
              <a:buNone/>
            </a:pPr>
            <a:endParaRPr lang="en-US" sz="12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>
              <a:buNone/>
            </a:pP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layer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4：(wf_sand_s_l7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BD_l7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(1.3828-1)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wf_sand_s_l8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BD_l8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 (2-1.3828))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</a:p>
          <a:p>
            <a:pPr marL="0" marR="0">
              <a:buNone/>
            </a:pP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(BD_l7* (1.3828-1)      + BD_l8* (2-1.3828))</a:t>
            </a:r>
          </a:p>
          <a:p>
            <a:pPr marL="0" marR="0">
              <a:buNone/>
            </a:pPr>
            <a:endParaRPr lang="en-US" sz="12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>
              <a:buNone/>
            </a:pPr>
            <a:r>
              <a:rPr lang="en-US" sz="1200" b="1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然后计算minerals中的SAND质量百分数，下面的wf_sand</a:t>
            </a:r>
            <a:r>
              <a:rPr lang="en-US" sz="12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/om/gravels_s为</a:t>
            </a:r>
            <a:r>
              <a:rPr 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聚合为</a:t>
            </a:r>
            <a:r>
              <a:rPr lang="en-US" sz="12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4层后的数据：</a:t>
            </a:r>
          </a:p>
          <a:p>
            <a:pPr marL="0" marR="0">
              <a:buNone/>
            </a:pP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SAND = </a:t>
            </a:r>
            <a:r>
              <a:rPr lang="en-US" sz="12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wf_sand_s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(1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en-US" sz="12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wf_om_s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-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wf_gravels_s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B4F7A-78B8-85EC-DC6C-C11CC9521845}"/>
              </a:ext>
            </a:extLst>
          </p:cNvPr>
          <p:cNvSpPr txBox="1"/>
          <p:nvPr/>
        </p:nvSpPr>
        <p:spPr>
          <a:xfrm>
            <a:off x="455228" y="1443099"/>
            <a:ext cx="113531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ayers</a:t>
            </a:r>
            <a:r>
              <a:rPr 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</a:t>
            </a:r>
            <a:r>
              <a:rPr lang="zh-CN" alt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至</a:t>
            </a:r>
            <a:r>
              <a:rPr lang="zh-CN" alt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分别为</a:t>
            </a:r>
            <a:r>
              <a:rPr lang="zh-CN" alt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0-0.0451，0.0451-0.0906，0.0906-0.1655，0.1655-0.2891，0.2891-0.4929，0.4929-0.8289，0.8289-1.3828，1.3828-2.2961</a:t>
            </a:r>
            <a:r>
              <a:rPr lang="zh-CN" alt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</a:p>
          <a:p>
            <a:endParaRPr lang="en-US" sz="12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layers：从1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至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分别为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0-0.1，0.1-0.4，0.4-1.0，1.0-2.0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CLM</a:t>
            </a:r>
            <a:endParaRPr lang="en-US" sz="1200" dirty="0">
              <a:solidFill>
                <a:srgbClr val="FF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>
              <a:buNone/>
            </a:pPr>
            <a:endParaRPr lang="en-US" sz="12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>
              <a:buNone/>
            </a:pP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ayers</a:t>
            </a: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从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至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分别为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0-0.0175，0.0175-0.0451，0.0451-0.0906，0.0906-0.1655，0.1655-0.2891，0.2891-0.4929，0.4929-0.8289，0.8289-1.3828，1.3828-2.2961，2.2961-3.4331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200" dirty="0" err="1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CoLM</a:t>
            </a:r>
            <a:endParaRPr lang="en-US" sz="1200" dirty="0">
              <a:solidFill>
                <a:srgbClr val="FF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AE4BEB-268C-82AB-E377-14C6358F060D}"/>
              </a:ext>
            </a:extLst>
          </p:cNvPr>
          <p:cNvSpPr txBox="1"/>
          <p:nvPr/>
        </p:nvSpPr>
        <p:spPr>
          <a:xfrm>
            <a:off x="7287468" y="1073767"/>
            <a:ext cx="2085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我们拿到的数据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CDEC8-1401-502E-63E8-BABF8F65C5D9}"/>
              </a:ext>
            </a:extLst>
          </p:cNvPr>
          <p:cNvSpPr txBox="1"/>
          <p:nvPr/>
        </p:nvSpPr>
        <p:spPr>
          <a:xfrm>
            <a:off x="7303234" y="1812431"/>
            <a:ext cx="2085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我们的模型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4387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03501-979F-C993-1335-1A9BA726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94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1.2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CoLM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inputs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0D48F-C59A-128D-1306-2EA2A534E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497" y="604020"/>
            <a:ext cx="6529156" cy="32549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3A3721-D051-B1E7-AB83-978E09D46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29" y="1367498"/>
            <a:ext cx="2468880" cy="3311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960783-28FA-7C7E-57D5-F8BFA34C5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810" y="4087237"/>
            <a:ext cx="6529156" cy="22180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F385D3-F531-03C7-8F00-74CBB0CF3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67" y="4805634"/>
            <a:ext cx="4018271" cy="9598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0A6143-7B2C-F27F-2CE6-9DCD2CC6F1FA}"/>
              </a:ext>
            </a:extLst>
          </p:cNvPr>
          <p:cNvSpPr txBox="1"/>
          <p:nvPr/>
        </p:nvSpPr>
        <p:spPr>
          <a:xfrm>
            <a:off x="435487" y="5891688"/>
            <a:ext cx="4018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我们拿到的数据为</a:t>
            </a:r>
            <a:r>
              <a:rPr lang="en-US" altLang="zh-CN" sz="1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sz="1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层，输入</a:t>
            </a:r>
            <a:r>
              <a:rPr lang="en-US" altLang="zh-CN" sz="1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sz="1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en-US" altLang="zh-CN" sz="1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5=40</a:t>
            </a:r>
            <a:r>
              <a:rPr lang="zh-CN" altLang="en-US" sz="1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列，程序内部会分别复制顶层和底层</a:t>
            </a:r>
            <a:endParaRPr lang="en-US" sz="14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2042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5B188-CAB5-F638-9BFB-4EEBFD29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1.3.1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ParFlow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inputs: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Shallow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soil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CCE52-AD3C-1373-8D92-EDD964E8E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261" y="1617749"/>
            <a:ext cx="2717800" cy="447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AFD3EB-7AE3-6C07-3D05-DE8CA7D1B1D7}"/>
              </a:ext>
            </a:extLst>
          </p:cNvPr>
          <p:cNvSpPr txBox="1"/>
          <p:nvPr/>
        </p:nvSpPr>
        <p:spPr>
          <a:xfrm>
            <a:off x="5054137" y="1710936"/>
            <a:ext cx="53960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CLM: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4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(soil)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/>
              <a:t>+</a:t>
            </a:r>
            <a:r>
              <a:rPr lang="zh-CN" altLang="en-US" sz="2800" dirty="0"/>
              <a:t> </a:t>
            </a:r>
            <a:r>
              <a:rPr lang="en-US" altLang="zh-CN" sz="2800" dirty="0"/>
              <a:t>6</a:t>
            </a:r>
            <a:r>
              <a:rPr lang="zh-CN" altLang="en-US" sz="2800" dirty="0"/>
              <a:t> </a:t>
            </a:r>
            <a:r>
              <a:rPr lang="en-US" altLang="zh-CN" sz="2800" dirty="0"/>
              <a:t>(aquifer)</a:t>
            </a:r>
            <a:r>
              <a:rPr lang="zh-CN" altLang="en-US" sz="2800" dirty="0"/>
              <a:t> </a:t>
            </a:r>
            <a:r>
              <a:rPr lang="en-US" altLang="zh-CN" sz="2800" dirty="0"/>
              <a:t>layers</a:t>
            </a:r>
          </a:p>
          <a:p>
            <a:r>
              <a:rPr lang="en-US" altLang="zh-CN" sz="2800" dirty="0" err="1"/>
              <a:t>CoLM</a:t>
            </a:r>
            <a:r>
              <a:rPr lang="en-US" altLang="zh-CN" sz="2800" dirty="0"/>
              <a:t>: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10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(soil)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/>
              <a:t>+</a:t>
            </a:r>
            <a:r>
              <a:rPr lang="zh-CN" altLang="en-US" sz="2800" dirty="0"/>
              <a:t> </a:t>
            </a:r>
            <a:r>
              <a:rPr lang="en-US" altLang="zh-CN" sz="2800" dirty="0"/>
              <a:t>1</a:t>
            </a:r>
            <a:r>
              <a:rPr lang="zh-CN" altLang="en-US" sz="2800" dirty="0"/>
              <a:t> </a:t>
            </a:r>
            <a:r>
              <a:rPr lang="en-US" altLang="zh-CN" sz="2800" dirty="0"/>
              <a:t>(aquifer)</a:t>
            </a:r>
            <a:r>
              <a:rPr lang="zh-CN" altLang="en-US" sz="2800" dirty="0"/>
              <a:t> </a:t>
            </a:r>
            <a:r>
              <a:rPr lang="en-US" altLang="zh-CN" sz="2800" dirty="0"/>
              <a:t>layers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FFF7AA-1F29-04B2-00C9-9C396AA1B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439" y="2856311"/>
            <a:ext cx="4937760" cy="11794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15C2B5-BD4F-CF88-BE9E-2498E37EFA42}"/>
              </a:ext>
            </a:extLst>
          </p:cNvPr>
          <p:cNvSpPr/>
          <p:nvPr/>
        </p:nvSpPr>
        <p:spPr>
          <a:xfrm>
            <a:off x="5168438" y="3532389"/>
            <a:ext cx="4937759" cy="5033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81A780-0B54-74D9-7842-FDDF33274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438" y="4297992"/>
            <a:ext cx="5113283" cy="213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8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B35681-C8C6-2A5E-35ED-D9D5B1DAA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2559797"/>
            <a:ext cx="9062258" cy="245453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3D2C5AF-A611-B7DA-05A3-EED807E32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619" y="129623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USDA soil texture triangle </a:t>
            </a:r>
          </a:p>
        </p:txBody>
      </p:sp>
      <p:pic>
        <p:nvPicPr>
          <p:cNvPr id="9" name="Picture 8" descr="The Soil Texture Triangle">
            <a:extLst>
              <a:ext uri="{FF2B5EF4-FFF2-40B4-BE49-F238E27FC236}">
                <a16:creationId xmlns:a16="http://schemas.microsoft.com/office/drawing/2014/main" id="{90203B1E-D74F-BD9A-1058-817F4FBD4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177" y="1782874"/>
            <a:ext cx="3378084" cy="362095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B436F11-5CD1-4072-EC6F-77D704A2773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1.3.1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ParFlow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inputs: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Shallow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soil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774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A35F2-1A53-CF69-E5E8-B33D59FAF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1.3.2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ParFlow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inputs: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Deep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aquifer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0206A-39CF-A38F-86ED-129440C51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3146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GLHYMPS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1.0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（近地表约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米）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AAEE5-3871-0E2E-D1D1-D69CBCFB3B65}"/>
              </a:ext>
            </a:extLst>
          </p:cNvPr>
          <p:cNvSpPr txBox="1"/>
          <p:nvPr/>
        </p:nvSpPr>
        <p:spPr>
          <a:xfrm>
            <a:off x="838200" y="1646779"/>
            <a:ext cx="60796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CLM: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(soil)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(aquifer)</a:t>
            </a:r>
            <a:r>
              <a:rPr lang="zh-CN" altLang="en-US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layers</a:t>
            </a:r>
          </a:p>
          <a:p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CoLM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(soil)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(aquifer)</a:t>
            </a:r>
            <a:r>
              <a:rPr lang="zh-CN" altLang="en-US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layers</a:t>
            </a:r>
            <a:endParaRPr 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BE23B-D37B-E68D-72A6-EFB0172C4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726" y="1441824"/>
            <a:ext cx="2982403" cy="2684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5CEF0B-C60A-93A5-2DA3-9960ED509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960" y="4356480"/>
            <a:ext cx="2889481" cy="1955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E025B7-5CD6-57B8-BF4F-BCE86C008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53" y="3355412"/>
            <a:ext cx="2651760" cy="20930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807238-DFA4-D0C5-BC8A-A4EED54827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2287" y="3365287"/>
            <a:ext cx="2926080" cy="20832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D37405-DE19-E3C4-83B0-EEEA28F5AC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379" y="5575602"/>
            <a:ext cx="5460124" cy="777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21F1E1-8F44-E478-76F8-4F6EB57E2921}"/>
              </a:ext>
            </a:extLst>
          </p:cNvPr>
          <p:cNvSpPr txBox="1"/>
          <p:nvPr/>
        </p:nvSpPr>
        <p:spPr>
          <a:xfrm>
            <a:off x="1072055" y="6352791"/>
            <a:ext cx="4763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Gleeson</a:t>
            </a:r>
            <a:r>
              <a:rPr lang="zh-CN" altLang="en-US" dirty="0"/>
              <a:t> </a:t>
            </a:r>
            <a:r>
              <a:rPr lang="en-US" altLang="zh-CN" dirty="0"/>
              <a:t>et</a:t>
            </a:r>
            <a:r>
              <a:rPr lang="zh-CN" altLang="en-US" dirty="0"/>
              <a:t> </a:t>
            </a:r>
            <a:r>
              <a:rPr lang="en-US" altLang="zh-CN" dirty="0"/>
              <a:t>al.,</a:t>
            </a:r>
            <a:r>
              <a:rPr lang="zh-CN" altLang="en-US" dirty="0"/>
              <a:t> </a:t>
            </a:r>
            <a:r>
              <a:rPr lang="en-US" altLang="zh-CN" dirty="0"/>
              <a:t>GRL,</a:t>
            </a:r>
            <a:r>
              <a:rPr lang="zh-CN" altLang="en-US" dirty="0"/>
              <a:t> </a:t>
            </a:r>
            <a:r>
              <a:rPr lang="en-US" altLang="zh-CN" dirty="0"/>
              <a:t>2011;</a:t>
            </a:r>
            <a:r>
              <a:rPr lang="zh-CN" altLang="en-US" dirty="0"/>
              <a:t> </a:t>
            </a:r>
            <a:r>
              <a:rPr lang="en-US" altLang="zh-CN" dirty="0"/>
              <a:t>Fan</a:t>
            </a:r>
            <a:r>
              <a:rPr lang="zh-CN" altLang="en-US" dirty="0"/>
              <a:t> </a:t>
            </a:r>
            <a:r>
              <a:rPr lang="en-US" altLang="zh-CN" dirty="0"/>
              <a:t>et</a:t>
            </a:r>
            <a:r>
              <a:rPr lang="zh-CN" altLang="en-US" dirty="0"/>
              <a:t> </a:t>
            </a:r>
            <a:r>
              <a:rPr lang="en-US" altLang="zh-CN" dirty="0"/>
              <a:t>al.,</a:t>
            </a:r>
            <a:r>
              <a:rPr lang="zh-CN" altLang="en-US" dirty="0"/>
              <a:t> </a:t>
            </a:r>
            <a:r>
              <a:rPr lang="en-US" altLang="zh-CN" dirty="0"/>
              <a:t>JGR,</a:t>
            </a:r>
            <a:r>
              <a:rPr lang="zh-CN" altLang="en-US" dirty="0"/>
              <a:t> </a:t>
            </a:r>
            <a:r>
              <a:rPr lang="en-US" altLang="zh-CN" dirty="0"/>
              <a:t>2007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01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AFFD-38EE-9AAE-53AE-459F3A79E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1.3.3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输入脚本配置及推荐初始值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8F602-C3D4-1A8F-7FB4-C7FC74474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89" y="3109621"/>
            <a:ext cx="3974869" cy="689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DE85E1-372B-812E-4824-E46F70CBB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183" y="1931757"/>
            <a:ext cx="5653675" cy="373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33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49656-C00F-66F9-769D-1C4F292E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1.3.3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输入脚本配置及推荐初始值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964B3-B9E8-BFC1-810E-438FBC1D2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推荐值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在线课程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实例中的参数值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若您使用了该套参数值，请引用：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2B80C-E45F-1AE0-16F8-C5AC85C73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93" y="2249660"/>
            <a:ext cx="4864331" cy="1268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88372A-E893-4943-5E73-E827527DD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93" y="3525679"/>
            <a:ext cx="3999807" cy="1312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C012F6-C556-AC57-3FEE-A083D9B3B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587" y="1898878"/>
            <a:ext cx="4232564" cy="13610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20CA09-182B-9E33-7CAF-53F62C933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587" y="3333170"/>
            <a:ext cx="3876500" cy="15643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CE68E9-7DFB-AA89-77AC-1CFF03A0C161}"/>
              </a:ext>
            </a:extLst>
          </p:cNvPr>
          <p:cNvSpPr txBox="1"/>
          <p:nvPr/>
        </p:nvSpPr>
        <p:spPr>
          <a:xfrm>
            <a:off x="896000" y="5431447"/>
            <a:ext cx="102254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</a:rPr>
              <a:t>Yang, C., Jia, Z., Xu, W., Wei, Z., Zhang, X., Zou, Y., ... &amp; Maxwell, R. (2025). CONCN: a high-resolution, integrated surface water–groundwater </a:t>
            </a:r>
            <a:r>
              <a:rPr lang="en-US" sz="1400" dirty="0" err="1">
                <a:effectLst/>
              </a:rPr>
              <a:t>ParFlow</a:t>
            </a:r>
            <a:r>
              <a:rPr lang="en-US" sz="1400" dirty="0">
                <a:effectLst/>
              </a:rPr>
              <a:t> modeling platform of continental China. Hydrology and Earth System Sciences, 29(9), 2201-2218.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</a:rPr>
              <a:t>Yang, C., Tijerina-Kreuzer, D. T., Tran, H. V., Condon, L. E., &amp; Maxwell, R. M. (2023). A high-resolution, 3D groundwater-surface water simulation of the contiguous US: Advances in the integrated </a:t>
            </a:r>
            <a:r>
              <a:rPr lang="en-US" sz="1400" dirty="0" err="1">
                <a:effectLst/>
              </a:rPr>
              <a:t>ParFlow</a:t>
            </a:r>
            <a:r>
              <a:rPr lang="en-US" sz="1400" dirty="0">
                <a:effectLst/>
              </a:rPr>
              <a:t> CONUS 2.0 modeling platform. Journal of Hydrology, 626, 130294.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D06AE-DD26-E824-250B-9E36AC360C7E}"/>
              </a:ext>
            </a:extLst>
          </p:cNvPr>
          <p:cNvSpPr txBox="1"/>
          <p:nvPr/>
        </p:nvSpPr>
        <p:spPr>
          <a:xfrm>
            <a:off x="3659336" y="2963838"/>
            <a:ext cx="1294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K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6753FD-5CC1-7845-5ACB-C408DA21CB14}"/>
              </a:ext>
            </a:extLst>
          </p:cNvPr>
          <p:cNvSpPr txBox="1"/>
          <p:nvPr/>
        </p:nvSpPr>
        <p:spPr>
          <a:xfrm>
            <a:off x="3575169" y="4231912"/>
            <a:ext cx="1294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Porosity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922C6-B902-20CB-DBA5-EA93F391817D}"/>
              </a:ext>
            </a:extLst>
          </p:cNvPr>
          <p:cNvSpPr txBox="1"/>
          <p:nvPr/>
        </p:nvSpPr>
        <p:spPr>
          <a:xfrm>
            <a:off x="8386278" y="2667049"/>
            <a:ext cx="2629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VG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model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parameters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F2117-EAF2-6FD7-C70F-1C4D946A25F4}"/>
              </a:ext>
            </a:extLst>
          </p:cNvPr>
          <p:cNvSpPr txBox="1"/>
          <p:nvPr/>
        </p:nvSpPr>
        <p:spPr>
          <a:xfrm>
            <a:off x="8386278" y="4101341"/>
            <a:ext cx="2629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VG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model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parameters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4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DBBBE-8BBA-9DD7-4373-31B88517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传统三维实体建模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OG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网格）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C4761B-806F-EFD6-EC64-104A57435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489" y="1606548"/>
            <a:ext cx="5253336" cy="19097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0A8BDA-F67C-B462-3384-A2FD591FF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303" y="1482201"/>
            <a:ext cx="3601268" cy="21898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A7D8AB-3042-6F63-921B-35DA82200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781" y="4001400"/>
            <a:ext cx="8846601" cy="24169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1896FE-A94C-DD89-7A24-1D0B94205FC8}"/>
              </a:ext>
            </a:extLst>
          </p:cNvPr>
          <p:cNvSpPr txBox="1"/>
          <p:nvPr/>
        </p:nvSpPr>
        <p:spPr>
          <a:xfrm>
            <a:off x="8317437" y="3816734"/>
            <a:ext cx="2833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pftools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中含转换程序</a:t>
            </a:r>
            <a:endParaRPr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6735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AE829-1D0B-3461-CA59-C434864CA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7"/>
            <a:ext cx="10515600" cy="4351338"/>
          </a:xfrm>
        </p:spPr>
        <p:txBody>
          <a:bodyPr/>
          <a:lstStyle/>
          <a:p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ParFlow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输入脚本配置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E659D8-09E5-45BF-39E0-DFDCF6B7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传统三维实体建模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OG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网格）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CE3B2A-C180-E1F5-AE8A-DA81451F4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503" y="1429392"/>
            <a:ext cx="4389120" cy="37942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78F93B-5963-DBEA-9122-A6DFF5FA8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77" y="2097729"/>
            <a:ext cx="4842704" cy="30381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69952C-D7D3-5C85-6FB6-1188EE007AA3}"/>
              </a:ext>
            </a:extLst>
          </p:cNvPr>
          <p:cNvSpPr txBox="1"/>
          <p:nvPr/>
        </p:nvSpPr>
        <p:spPr>
          <a:xfrm>
            <a:off x="5909081" y="5311437"/>
            <a:ext cx="10374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model.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GeomInput.solidinput.GeomNames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=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\</a:t>
            </a:r>
          </a:p>
          <a:p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"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s1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s2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s3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s4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s5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68BE6E-5071-45B8-73F8-EBF94F3BB6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4906" r="46800"/>
          <a:stretch>
            <a:fillRect/>
          </a:stretch>
        </p:blipFill>
        <p:spPr>
          <a:xfrm>
            <a:off x="1066377" y="5310597"/>
            <a:ext cx="4668003" cy="10810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5D343B-3A73-856E-8CFE-662DEED4099A}"/>
              </a:ext>
            </a:extLst>
          </p:cNvPr>
          <p:cNvSpPr txBox="1"/>
          <p:nvPr/>
        </p:nvSpPr>
        <p:spPr>
          <a:xfrm>
            <a:off x="5909081" y="5917151"/>
            <a:ext cx="4905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model.Geom.</a:t>
            </a:r>
            <a:r>
              <a:rPr 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s1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.Perm.Type = "Constant"</a:t>
            </a:r>
          </a:p>
          <a:p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model.Geom.</a:t>
            </a:r>
            <a:r>
              <a:rPr 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s1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.Perm.Value = 0.005009435</a:t>
            </a:r>
          </a:p>
        </p:txBody>
      </p:sp>
    </p:spTree>
    <p:extLst>
      <p:ext uri="{BB962C8B-B14F-4D97-AF65-F5344CB8AC3E}">
        <p14:creationId xmlns:p14="http://schemas.microsoft.com/office/powerpoint/2010/main" val="2797580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9858F-3CA2-76D8-2530-5DD10106C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E7514-1DAD-4BF8-4027-1566F1AEE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传统三维实体建模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OG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网格）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221DF-E63F-26F7-89AE-783FB3F2D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70" y="1965663"/>
            <a:ext cx="3223570" cy="1798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468350-1F52-E3DF-E463-4D116FB4C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861"/>
          <a:stretch>
            <a:fillRect/>
          </a:stretch>
        </p:blipFill>
        <p:spPr>
          <a:xfrm>
            <a:off x="745934" y="4028662"/>
            <a:ext cx="4949593" cy="2224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4288D9-ED05-2C8A-4BE6-53CD37022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614" y="2019018"/>
            <a:ext cx="4032052" cy="16561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C84147-B531-2F53-DFCB-484DCDCD0D76}"/>
              </a:ext>
            </a:extLst>
          </p:cNvPr>
          <p:cNvSpPr txBox="1"/>
          <p:nvPr/>
        </p:nvSpPr>
        <p:spPr>
          <a:xfrm>
            <a:off x="5855361" y="40877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</a:rPr>
              <a:t>执行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：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sh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gmsfem2pfsol.sh 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femmod</a:t>
            </a:r>
            <a:endParaRPr lang="en-US" sz="180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FD7DD4-6DCC-6490-79EA-2EFC8BFC224C}"/>
              </a:ext>
            </a:extLst>
          </p:cNvPr>
          <p:cNvSpPr txBox="1"/>
          <p:nvPr/>
        </p:nvSpPr>
        <p:spPr>
          <a:xfrm>
            <a:off x="5855361" y="4457095"/>
            <a:ext cx="6255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>
              <a:buNone/>
              <a:defRPr>
                <a:solidFill>
                  <a:srgbClr val="000000"/>
                </a:solidFill>
                <a:effectLst/>
                <a:latin typeface="Courier New" panose="02070309020205020404" pitchFamily="49" charset="0"/>
              </a:defRPr>
            </a:lvl1pPr>
          </a:lstStyle>
          <a:p>
            <a:r>
              <a:rPr lang="en-US" dirty="0" err="1"/>
              <a:t>生成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dirty="0" err="1"/>
              <a:t>femmod.pfsol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dirty="0" err="1"/>
              <a:t>femmod.mmap</a:t>
            </a:r>
            <a:endParaRPr lang="en-US" dirty="0"/>
          </a:p>
        </p:txBody>
      </p:sp>
      <p:pic>
        <p:nvPicPr>
          <p:cNvPr id="14" name="Picture 13" descr="The element types supported by FEMWATER | Download ...">
            <a:extLst>
              <a:ext uri="{FF2B5EF4-FFF2-40B4-BE49-F238E27FC236}">
                <a16:creationId xmlns:a16="http://schemas.microsoft.com/office/drawing/2014/main" id="{E869CD4A-2A28-ED71-859D-84FBB87D8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9533" y="4492997"/>
            <a:ext cx="2326888" cy="20991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1CA8A3-14B5-89FE-BDFF-FEA8EEA456D9}"/>
              </a:ext>
            </a:extLst>
          </p:cNvPr>
          <p:cNvSpPr/>
          <p:nvPr/>
        </p:nvSpPr>
        <p:spPr>
          <a:xfrm>
            <a:off x="9701561" y="4492997"/>
            <a:ext cx="966439" cy="10677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D76C2B-1D0A-1D08-4E51-04AC2F6AF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8300" y="1954955"/>
            <a:ext cx="3394454" cy="18094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154EEB-D8C2-BD65-9D78-776227CA8885}"/>
              </a:ext>
            </a:extLst>
          </p:cNvPr>
          <p:cNvSpPr txBox="1"/>
          <p:nvPr/>
        </p:nvSpPr>
        <p:spPr>
          <a:xfrm>
            <a:off x="1649008" y="6308209"/>
            <a:ext cx="2833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pftools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中含转换程序</a:t>
            </a:r>
            <a:endParaRPr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9C176F-E11C-DD28-5E8C-8069AB2B9BAB}"/>
              </a:ext>
            </a:extLst>
          </p:cNvPr>
          <p:cNvSpPr txBox="1"/>
          <p:nvPr/>
        </p:nvSpPr>
        <p:spPr>
          <a:xfrm>
            <a:off x="10115330" y="5616954"/>
            <a:ext cx="731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GE6</a:t>
            </a:r>
          </a:p>
        </p:txBody>
      </p:sp>
    </p:spTree>
    <p:extLst>
      <p:ext uri="{BB962C8B-B14F-4D97-AF65-F5344CB8AC3E}">
        <p14:creationId xmlns:p14="http://schemas.microsoft.com/office/powerpoint/2010/main" val="3609417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8993-3DD9-2651-A761-2F0533066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小尺度地质信息向</a:t>
            </a:r>
            <a:r>
              <a:rPr 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TFG/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大尺度网格的映射与集成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42E93F-39F3-D21A-C5F5-F256C58ED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133" y="1885648"/>
            <a:ext cx="3474720" cy="1997841"/>
          </a:xfrm>
          <a:prstGeom prst="rect">
            <a:avLst/>
          </a:prstGeom>
        </p:spPr>
      </p:pic>
      <p:pic>
        <p:nvPicPr>
          <p:cNvPr id="7" name="Picture 6" descr="ParFlow">
            <a:extLst>
              <a:ext uri="{FF2B5EF4-FFF2-40B4-BE49-F238E27FC236}">
                <a16:creationId xmlns:a16="http://schemas.microsoft.com/office/drawing/2014/main" id="{0C57220C-FC6D-EBED-5069-3101A240A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780" y="1760396"/>
            <a:ext cx="3657600" cy="2457904"/>
          </a:xfrm>
          <a:prstGeom prst="rect">
            <a:avLst/>
          </a:prstGeom>
        </p:spPr>
      </p:pic>
      <p:sp>
        <p:nvSpPr>
          <p:cNvPr id="8" name="Left-Right Arrow 7">
            <a:extLst>
              <a:ext uri="{FF2B5EF4-FFF2-40B4-BE49-F238E27FC236}">
                <a16:creationId xmlns:a16="http://schemas.microsoft.com/office/drawing/2014/main" id="{61199315-C101-547E-5FB7-679C9645C304}"/>
              </a:ext>
            </a:extLst>
          </p:cNvPr>
          <p:cNvSpPr/>
          <p:nvPr/>
        </p:nvSpPr>
        <p:spPr>
          <a:xfrm>
            <a:off x="5486400" y="2726769"/>
            <a:ext cx="609600" cy="371707"/>
          </a:xfrm>
          <a:prstGeom prst="leftRightArrow">
            <a:avLst/>
          </a:prstGeom>
          <a:solidFill>
            <a:srgbClr val="0432FF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7D2EAF-0D7D-3E7B-6DB6-EFA5B04C0EF8}"/>
              </a:ext>
            </a:extLst>
          </p:cNvPr>
          <p:cNvSpPr txBox="1"/>
          <p:nvPr/>
        </p:nvSpPr>
        <p:spPr>
          <a:xfrm>
            <a:off x="2099216" y="4288008"/>
            <a:ext cx="7383967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对于一个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封闭的三维</a:t>
            </a:r>
            <a:r>
              <a:rPr 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solid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，最常用的判断是</a:t>
            </a:r>
            <a:r>
              <a:rPr lang="en-US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ray</a:t>
            </a:r>
            <a:r>
              <a:rPr 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casting（射线法</a:t>
            </a:r>
            <a:r>
              <a:rPr 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 </a:t>
            </a:r>
          </a:p>
          <a:p>
            <a:pPr>
              <a:lnSpc>
                <a:spcPct val="150000"/>
              </a:lnSpc>
              <a:buNone/>
            </a:pP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设待判断点为P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从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P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向任意固定方向发一条射线，计算这条射线与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solid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的所有外表面三角形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面片的交点数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交点数为奇数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：P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solid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内部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交点数为偶数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：P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solid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外部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7660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869</Words>
  <Application>Microsoft Macintosh PowerPoint</Application>
  <PresentationFormat>Widescreen</PresentationFormat>
  <Paragraphs>99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Microsoft YaHei</vt:lpstr>
      <vt:lpstr>Aptos</vt:lpstr>
      <vt:lpstr>Aptos Display</vt:lpstr>
      <vt:lpstr>Arial</vt:lpstr>
      <vt:lpstr>Courier New</vt:lpstr>
      <vt:lpstr>Office Theme</vt:lpstr>
      <vt:lpstr>第五讲 地下含水介质的配置</vt:lpstr>
      <vt:lpstr>1. 大尺度地下水建模（TFG网格）</vt:lpstr>
      <vt:lpstr>1.1 CLM inputs</vt:lpstr>
      <vt:lpstr>1.1 CLM inputs</vt:lpstr>
      <vt:lpstr>1.1 CLM inputs</vt:lpstr>
      <vt:lpstr>1.2 CoLM inputs</vt:lpstr>
      <vt:lpstr>1.3.1 ParFlow inputs: Shallow soil</vt:lpstr>
      <vt:lpstr>USDA soil texture triangle </vt:lpstr>
      <vt:lpstr>1.3.2 ParFlow inputs: Deep aquifer</vt:lpstr>
      <vt:lpstr>1.3.3 输入脚本配置及推荐初始值</vt:lpstr>
      <vt:lpstr>1.3.3 输入脚本配置及推荐初始值</vt:lpstr>
      <vt:lpstr>2. 传统三维实体建模（OG网格）</vt:lpstr>
      <vt:lpstr>2. 传统三维实体建模（OG网格）</vt:lpstr>
      <vt:lpstr>2. 传统三维实体建模（OG网格）</vt:lpstr>
      <vt:lpstr>3. 小尺度地质信息向 TFG/大尺度网格的映射与集成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Yang</dc:creator>
  <cp:lastModifiedBy>Chen Yang</cp:lastModifiedBy>
  <cp:revision>86</cp:revision>
  <dcterms:created xsi:type="dcterms:W3CDTF">2026-06-25T11:10:35Z</dcterms:created>
  <dcterms:modified xsi:type="dcterms:W3CDTF">2026-06-26T07:50:08Z</dcterms:modified>
</cp:coreProperties>
</file>